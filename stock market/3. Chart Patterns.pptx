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35F4A-AE55-464E-A35A-71E86EA25642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F4C55A-F916-437E-8AAC-9D743DAA6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0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09C22-4266-4758-81D2-949E89C98921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6A715-F4D4-4A03-8F9F-13E220698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8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Merged with Society Dev Bank and now known as VSDBL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6F314-F829-46D2-99B2-298B8DC6B97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Manaslu</a:t>
            </a:r>
            <a:r>
              <a:rPr lang="en-US" dirty="0" smtClean="0"/>
              <a:t> </a:t>
            </a:r>
            <a:r>
              <a:rPr lang="en-US" dirty="0" err="1" smtClean="0"/>
              <a:t>Bikas</a:t>
            </a:r>
            <a:r>
              <a:rPr lang="en-US" dirty="0" smtClean="0"/>
              <a:t> Bank Ltd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6F314-F829-46D2-99B2-298B8DC6B97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Pacific Dev Bank Ltd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06F314-F829-46D2-99B2-298B8DC6B97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11762"/>
          </a:xfrm>
        </p:spPr>
        <p:txBody>
          <a:bodyPr>
            <a:noAutofit/>
          </a:bodyPr>
          <a:lstStyle/>
          <a:p>
            <a:r>
              <a:rPr lang="en-US" sz="7200" b="1" dirty="0" smtClean="0"/>
              <a:t>CHART   PATTERNS</a:t>
            </a:r>
          </a:p>
        </p:txBody>
      </p:sp>
    </p:spTree>
    <p:extLst>
      <p:ext uri="{BB962C8B-B14F-4D97-AF65-F5344CB8AC3E}">
        <p14:creationId xmlns:p14="http://schemas.microsoft.com/office/powerpoint/2010/main" val="289197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Chart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Usually occur in an uptrend or downtrend as a pause before head towards the preceding trend or change of trend</a:t>
            </a:r>
          </a:p>
          <a:p>
            <a:r>
              <a:rPr lang="en-US" dirty="0" smtClean="0"/>
              <a:t>Mainly two types of patterns.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Reversal 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Continuation Patterns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5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Volume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Number of shares traded in market during given period of time.</a:t>
            </a:r>
          </a:p>
          <a:p>
            <a:r>
              <a:rPr lang="en-US" dirty="0" smtClean="0"/>
              <a:t>Amount of shares that trade hands from seller to buyer.</a:t>
            </a:r>
          </a:p>
          <a:p>
            <a:r>
              <a:rPr lang="en-US" dirty="0" smtClean="0"/>
              <a:t>Increase in volume indicate trend might continue in that direction.</a:t>
            </a:r>
          </a:p>
          <a:p>
            <a:r>
              <a:rPr lang="en-US" dirty="0" smtClean="0"/>
              <a:t>Decrease in volume indicate trend might change.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0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Volume is recorded at the bottom of the chart.</a:t>
            </a:r>
            <a:endParaRPr lang="en-US" sz="3200" dirty="0"/>
          </a:p>
        </p:txBody>
      </p:sp>
      <p:pic>
        <p:nvPicPr>
          <p:cNvPr id="4" name="Content Placeholder 3" descr="Volum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90908"/>
            <a:ext cx="8229600" cy="4144546"/>
          </a:xfrm>
        </p:spPr>
      </p:pic>
    </p:spTree>
    <p:extLst>
      <p:ext uri="{BB962C8B-B14F-4D97-AF65-F5344CB8AC3E}">
        <p14:creationId xmlns:p14="http://schemas.microsoft.com/office/powerpoint/2010/main" val="334110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Chart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Head and Shoulder</a:t>
            </a:r>
          </a:p>
          <a:p>
            <a:r>
              <a:rPr lang="en-US" dirty="0" smtClean="0"/>
              <a:t>Triple Tops and Bottoms</a:t>
            </a:r>
          </a:p>
          <a:p>
            <a:r>
              <a:rPr lang="en-US" dirty="0" smtClean="0"/>
              <a:t>Double Tops and Bottoms</a:t>
            </a:r>
          </a:p>
          <a:p>
            <a:r>
              <a:rPr lang="en-US" dirty="0" smtClean="0"/>
              <a:t>Symmetrical Triangle</a:t>
            </a:r>
          </a:p>
          <a:p>
            <a:r>
              <a:rPr lang="en-US" dirty="0" smtClean="0"/>
              <a:t>Ascending Triangle</a:t>
            </a:r>
          </a:p>
          <a:p>
            <a:r>
              <a:rPr lang="en-US" dirty="0" smtClean="0"/>
              <a:t>Descending Triangle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Flags and Pennants</a:t>
            </a:r>
          </a:p>
          <a:p>
            <a:r>
              <a:rPr lang="en-US" dirty="0" smtClean="0"/>
              <a:t>The Falling Wedges</a:t>
            </a:r>
          </a:p>
          <a:p>
            <a:r>
              <a:rPr lang="en-US" dirty="0" smtClean="0"/>
              <a:t>The Rising Wedges</a:t>
            </a:r>
          </a:p>
          <a:p>
            <a:r>
              <a:rPr lang="en-US" dirty="0" smtClean="0"/>
              <a:t>Rectangle</a:t>
            </a:r>
          </a:p>
          <a:p>
            <a:r>
              <a:rPr lang="en-US" dirty="0" smtClean="0"/>
              <a:t>Broadening Triangle</a:t>
            </a:r>
          </a:p>
          <a:p>
            <a:r>
              <a:rPr lang="en-US" dirty="0" smtClean="0"/>
              <a:t>Cup with Handle  </a:t>
            </a:r>
          </a:p>
          <a:p>
            <a:r>
              <a:rPr lang="en-US" dirty="0" smtClean="0"/>
              <a:t>Rounding Bottom </a:t>
            </a:r>
            <a:r>
              <a:rPr lang="en-US" smtClean="0"/>
              <a:t>or Saucer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3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Reversal Patterns – Common points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Occurs in uptrend or downtrend</a:t>
            </a:r>
          </a:p>
          <a:p>
            <a:r>
              <a:rPr lang="en-US" dirty="0" smtClean="0"/>
              <a:t>Penetration of important trendline</a:t>
            </a:r>
          </a:p>
          <a:p>
            <a:r>
              <a:rPr lang="en-US" dirty="0" smtClean="0"/>
              <a:t>Larger the pattern, greater the effect</a:t>
            </a:r>
          </a:p>
          <a:p>
            <a:r>
              <a:rPr lang="en-US" dirty="0" smtClean="0"/>
              <a:t>Volume plays important role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3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 and Shoulder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Major reversal pattern</a:t>
            </a:r>
          </a:p>
          <a:p>
            <a:r>
              <a:rPr lang="en-US" dirty="0" smtClean="0"/>
              <a:t>Looks like head and shoulders</a:t>
            </a:r>
          </a:p>
          <a:p>
            <a:r>
              <a:rPr lang="en-US" dirty="0" smtClean="0"/>
              <a:t>Indicates buying pressure getting weak in an uptrend</a:t>
            </a:r>
          </a:p>
          <a:p>
            <a:r>
              <a:rPr lang="en-US" dirty="0" smtClean="0"/>
              <a:t>Volume increases as price declines</a:t>
            </a:r>
          </a:p>
          <a:p>
            <a:r>
              <a:rPr lang="en-US" dirty="0" smtClean="0"/>
              <a:t>Pull back is normal</a:t>
            </a:r>
            <a:endParaRPr lang="en-US" dirty="0"/>
          </a:p>
        </p:txBody>
      </p:sp>
      <p:pic>
        <p:nvPicPr>
          <p:cNvPr id="5" name="Content Placeholder 4" descr="Head &amp; Shoulder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495801" y="1985543"/>
            <a:ext cx="4190998" cy="3577057"/>
          </a:xfrm>
        </p:spPr>
      </p:pic>
    </p:spTree>
    <p:extLst>
      <p:ext uri="{BB962C8B-B14F-4D97-AF65-F5344CB8AC3E}">
        <p14:creationId xmlns:p14="http://schemas.microsoft.com/office/powerpoint/2010/main" val="30069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 and Shoulder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Locating Price Targets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Measure height of a pattern</a:t>
            </a:r>
          </a:p>
          <a:p>
            <a:r>
              <a:rPr lang="en-US" dirty="0" smtClean="0"/>
              <a:t>Vertical distance between head and neckline</a:t>
            </a:r>
          </a:p>
          <a:p>
            <a:r>
              <a:rPr lang="en-US" dirty="0" smtClean="0"/>
              <a:t>Project it from the breakout on the neckline</a:t>
            </a:r>
          </a:p>
          <a:p>
            <a:r>
              <a:rPr lang="en-US" dirty="0" smtClean="0"/>
              <a:t>Pattern works most of the time but not always</a:t>
            </a:r>
            <a:endParaRPr lang="en-US" dirty="0"/>
          </a:p>
        </p:txBody>
      </p:sp>
      <p:pic>
        <p:nvPicPr>
          <p:cNvPr id="7" name="Content Placeholder 6" descr="Head n Shoulder.jp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3962400" cy="3590481"/>
          </a:xfrm>
        </p:spPr>
      </p:pic>
    </p:spTree>
    <p:extLst>
      <p:ext uri="{BB962C8B-B14F-4D97-AF65-F5344CB8AC3E}">
        <p14:creationId xmlns:p14="http://schemas.microsoft.com/office/powerpoint/2010/main" val="3445166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Inverted Head and Shoulder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Opposite of the head and shoulder pattern</a:t>
            </a:r>
          </a:p>
          <a:p>
            <a:r>
              <a:rPr lang="en-US" dirty="0" smtClean="0"/>
              <a:t>Occurs in downtrend at the bottom</a:t>
            </a:r>
          </a:p>
          <a:p>
            <a:r>
              <a:rPr lang="en-US" dirty="0" smtClean="0"/>
              <a:t>Volume increases as price starts to increase</a:t>
            </a:r>
          </a:p>
          <a:p>
            <a:r>
              <a:rPr lang="en-US" dirty="0" smtClean="0"/>
              <a:t>Price target is similar as head and shoulder pattern</a:t>
            </a:r>
          </a:p>
          <a:p>
            <a:endParaRPr lang="en-US" dirty="0"/>
          </a:p>
        </p:txBody>
      </p:sp>
      <p:pic>
        <p:nvPicPr>
          <p:cNvPr id="5" name="Content Placeholder 4" descr="Inverted Head n Shoulder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43400" y="1905000"/>
            <a:ext cx="4343400" cy="3352799"/>
          </a:xfrm>
        </p:spPr>
      </p:pic>
    </p:spTree>
    <p:extLst>
      <p:ext uri="{BB962C8B-B14F-4D97-AF65-F5344CB8AC3E}">
        <p14:creationId xmlns:p14="http://schemas.microsoft.com/office/powerpoint/2010/main" val="2909061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Triple Tops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Similar as head and shoulder but with no head</a:t>
            </a:r>
          </a:p>
          <a:p>
            <a:r>
              <a:rPr lang="en-US" dirty="0" smtClean="0"/>
              <a:t>Peaks are in similar level</a:t>
            </a:r>
          </a:p>
          <a:p>
            <a:r>
              <a:rPr lang="en-US" dirty="0" smtClean="0"/>
              <a:t>Occurs in an uptrend</a:t>
            </a:r>
          </a:p>
          <a:p>
            <a:r>
              <a:rPr lang="en-US" dirty="0" smtClean="0"/>
              <a:t>Volume increases as price breaks neckline</a:t>
            </a:r>
          </a:p>
          <a:p>
            <a:r>
              <a:rPr lang="en-US" dirty="0" smtClean="0"/>
              <a:t>Pullbacks are normal</a:t>
            </a:r>
            <a:endParaRPr lang="en-US" dirty="0"/>
          </a:p>
        </p:txBody>
      </p:sp>
      <p:pic>
        <p:nvPicPr>
          <p:cNvPr id="5" name="Content Placeholder 4" descr="Triple Tops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524000"/>
            <a:ext cx="4038600" cy="3768573"/>
          </a:xfrm>
        </p:spPr>
      </p:pic>
    </p:spTree>
    <p:extLst>
      <p:ext uri="{BB962C8B-B14F-4D97-AF65-F5344CB8AC3E}">
        <p14:creationId xmlns:p14="http://schemas.microsoft.com/office/powerpoint/2010/main" val="3990675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Triple Tops</a:t>
            </a:r>
            <a:endParaRPr lang="en-US" dirty="0"/>
          </a:p>
        </p:txBody>
      </p:sp>
      <p:pic>
        <p:nvPicPr>
          <p:cNvPr id="4" name="Content Placeholder 3" descr="Triple Tops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66962"/>
            <a:ext cx="8229600" cy="4192438"/>
          </a:xfrm>
        </p:spPr>
      </p:pic>
    </p:spTree>
    <p:extLst>
      <p:ext uri="{BB962C8B-B14F-4D97-AF65-F5344CB8AC3E}">
        <p14:creationId xmlns:p14="http://schemas.microsoft.com/office/powerpoint/2010/main" val="100985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Triple Bottoms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Just the opposite of the triple tops</a:t>
            </a:r>
          </a:p>
          <a:p>
            <a:r>
              <a:rPr lang="en-US" dirty="0" smtClean="0"/>
              <a:t>Occurs in downtrend</a:t>
            </a:r>
          </a:p>
          <a:p>
            <a:r>
              <a:rPr lang="en-US" dirty="0" smtClean="0"/>
              <a:t>All troughs are in similar level</a:t>
            </a:r>
          </a:p>
          <a:p>
            <a:r>
              <a:rPr lang="en-US" dirty="0" smtClean="0"/>
              <a:t>Throwbacks are normal</a:t>
            </a:r>
          </a:p>
          <a:p>
            <a:r>
              <a:rPr lang="en-US" dirty="0" smtClean="0"/>
              <a:t>Volume increases as price hikes up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 descr="Triple Tops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13628" y="1676400"/>
            <a:ext cx="3907743" cy="3810000"/>
          </a:xfrm>
        </p:spPr>
      </p:pic>
    </p:spTree>
    <p:extLst>
      <p:ext uri="{BB962C8B-B14F-4D97-AF65-F5344CB8AC3E}">
        <p14:creationId xmlns:p14="http://schemas.microsoft.com/office/powerpoint/2010/main" val="75340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Tops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Occurs in uptrend</a:t>
            </a:r>
          </a:p>
          <a:p>
            <a:r>
              <a:rPr lang="en-US" dirty="0" smtClean="0"/>
              <a:t>It involves two peaks and known as ‘M’</a:t>
            </a:r>
          </a:p>
          <a:p>
            <a:r>
              <a:rPr lang="en-US" dirty="0" smtClean="0"/>
              <a:t>Usually volume increases in breakout</a:t>
            </a:r>
          </a:p>
          <a:p>
            <a:r>
              <a:rPr lang="en-US" dirty="0" smtClean="0"/>
              <a:t>Locating price target is similar as other triangle patterns</a:t>
            </a:r>
            <a:endParaRPr lang="en-US" dirty="0"/>
          </a:p>
        </p:txBody>
      </p:sp>
      <p:pic>
        <p:nvPicPr>
          <p:cNvPr id="5" name="Content Placeholder 4" descr="Double tops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2271041"/>
            <a:ext cx="4038600" cy="3184281"/>
          </a:xfrm>
        </p:spPr>
      </p:pic>
    </p:spTree>
    <p:extLst>
      <p:ext uri="{BB962C8B-B14F-4D97-AF65-F5344CB8AC3E}">
        <p14:creationId xmlns:p14="http://schemas.microsoft.com/office/powerpoint/2010/main" val="89656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Tops</a:t>
            </a:r>
            <a:endParaRPr lang="en-US" dirty="0"/>
          </a:p>
        </p:txBody>
      </p:sp>
      <p:pic>
        <p:nvPicPr>
          <p:cNvPr id="4" name="Content Placeholder 3" descr="double top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94269"/>
            <a:ext cx="8229600" cy="4137824"/>
          </a:xfrm>
        </p:spPr>
      </p:pic>
    </p:spTree>
    <p:extLst>
      <p:ext uri="{BB962C8B-B14F-4D97-AF65-F5344CB8AC3E}">
        <p14:creationId xmlns:p14="http://schemas.microsoft.com/office/powerpoint/2010/main" val="4105069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Bottoms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Occurs in downtrend</a:t>
            </a:r>
          </a:p>
          <a:p>
            <a:r>
              <a:rPr lang="en-US" dirty="0" smtClean="0"/>
              <a:t>It involves two troughs and known as ‘W’</a:t>
            </a:r>
          </a:p>
          <a:p>
            <a:r>
              <a:rPr lang="en-US" dirty="0" smtClean="0"/>
              <a:t>Usually volume increases in breakout</a:t>
            </a:r>
          </a:p>
          <a:p>
            <a:r>
              <a:rPr lang="en-US" dirty="0" smtClean="0"/>
              <a:t>Locating price target is similar as other triangle patterns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 descr="Double Bottom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76400"/>
            <a:ext cx="4038600" cy="3664039"/>
          </a:xfrm>
        </p:spPr>
      </p:pic>
    </p:spTree>
    <p:extLst>
      <p:ext uri="{BB962C8B-B14F-4D97-AF65-F5344CB8AC3E}">
        <p14:creationId xmlns:p14="http://schemas.microsoft.com/office/powerpoint/2010/main" val="203613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Bottoms</a:t>
            </a:r>
            <a:endParaRPr lang="en-US" dirty="0"/>
          </a:p>
        </p:txBody>
      </p:sp>
      <p:pic>
        <p:nvPicPr>
          <p:cNvPr id="4" name="Content Placeholder 3" descr="double bottom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807431"/>
            <a:ext cx="8229600" cy="4111500"/>
          </a:xfrm>
        </p:spPr>
      </p:pic>
    </p:spTree>
    <p:extLst>
      <p:ext uri="{BB962C8B-B14F-4D97-AF65-F5344CB8AC3E}">
        <p14:creationId xmlns:p14="http://schemas.microsoft.com/office/powerpoint/2010/main" val="1124960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Continuation Patterns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pause in a trend before moving towards the preceding direction most of the time</a:t>
            </a:r>
          </a:p>
          <a:p>
            <a:r>
              <a:rPr lang="en-US" dirty="0" smtClean="0"/>
              <a:t>Usually shorter term than the reversal patterns</a:t>
            </a:r>
          </a:p>
          <a:p>
            <a:r>
              <a:rPr lang="en-US" dirty="0" smtClean="0"/>
              <a:t>Common types are Triangle, Flags, Pennants &amp; Rectangle Patterns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91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Triangle Patterns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Symmetrical Triangle</a:t>
            </a:r>
          </a:p>
          <a:p>
            <a:r>
              <a:rPr lang="en-US" dirty="0" smtClean="0"/>
              <a:t>Ascending Triangle</a:t>
            </a:r>
          </a:p>
          <a:p>
            <a:r>
              <a:rPr lang="en-US" dirty="0" smtClean="0"/>
              <a:t>Descending Triangle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66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Symmetrical Triangle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2 Converging trendlines</a:t>
            </a:r>
          </a:p>
          <a:p>
            <a:r>
              <a:rPr lang="en-US" dirty="0" smtClean="0"/>
              <a:t>At least 2 peaks and troughs</a:t>
            </a:r>
          </a:p>
          <a:p>
            <a:r>
              <a:rPr lang="en-US" dirty="0" smtClean="0"/>
              <a:t>Indicates buying and selling pressure even</a:t>
            </a:r>
          </a:p>
          <a:p>
            <a:r>
              <a:rPr lang="en-US" dirty="0" smtClean="0"/>
              <a:t>Valid breakout should occur before heading that direction</a:t>
            </a:r>
          </a:p>
          <a:p>
            <a:r>
              <a:rPr lang="en-US" dirty="0" smtClean="0"/>
              <a:t>Volume declines towards apex and increases at breakout</a:t>
            </a:r>
          </a:p>
        </p:txBody>
      </p:sp>
      <p:pic>
        <p:nvPicPr>
          <p:cNvPr id="5" name="Content Placeholder 4" descr="symmetrical triangle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981200"/>
            <a:ext cx="4038600" cy="3505200"/>
          </a:xfrm>
        </p:spPr>
      </p:pic>
    </p:spTree>
    <p:extLst>
      <p:ext uri="{BB962C8B-B14F-4D97-AF65-F5344CB8AC3E}">
        <p14:creationId xmlns:p14="http://schemas.microsoft.com/office/powerpoint/2010/main" val="1089676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Symmetrical Triangle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rule breakout at 2/3 to 3/4  from base to apex</a:t>
            </a:r>
          </a:p>
          <a:p>
            <a:r>
              <a:rPr lang="en-US" dirty="0" smtClean="0"/>
              <a:t>Continuous pattern but not always</a:t>
            </a:r>
          </a:p>
          <a:p>
            <a:r>
              <a:rPr lang="en-US" dirty="0" smtClean="0"/>
              <a:t>Known as Coil</a:t>
            </a:r>
          </a:p>
          <a:p>
            <a:r>
              <a:rPr lang="en-US" dirty="0" smtClean="0"/>
              <a:t>Average duration is 1 month to few months</a:t>
            </a:r>
          </a:p>
          <a:p>
            <a:endParaRPr lang="en-US" dirty="0"/>
          </a:p>
        </p:txBody>
      </p:sp>
      <p:pic>
        <p:nvPicPr>
          <p:cNvPr id="5" name="Content Placeholder 4" descr="symmetrical triangle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828800"/>
            <a:ext cx="4038600" cy="3733800"/>
          </a:xfrm>
        </p:spPr>
      </p:pic>
    </p:spTree>
    <p:extLst>
      <p:ext uri="{BB962C8B-B14F-4D97-AF65-F5344CB8AC3E}">
        <p14:creationId xmlns:p14="http://schemas.microsoft.com/office/powerpoint/2010/main" val="3180043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Symmetrical Triangle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Locating Price Target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Measure the height of base and project it from breakout</a:t>
            </a:r>
          </a:p>
          <a:p>
            <a:r>
              <a:rPr lang="en-US" sz="2800" dirty="0" smtClean="0"/>
              <a:t>Draw a trendline parallel to ascending trendline</a:t>
            </a:r>
          </a:p>
        </p:txBody>
      </p:sp>
      <p:pic>
        <p:nvPicPr>
          <p:cNvPr id="7" name="Content Placeholder 6" descr="symmetrical triangle.jp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5025" y="1905000"/>
            <a:ext cx="4041775" cy="3564709"/>
          </a:xfrm>
        </p:spPr>
      </p:pic>
    </p:spTree>
    <p:extLst>
      <p:ext uri="{BB962C8B-B14F-4D97-AF65-F5344CB8AC3E}">
        <p14:creationId xmlns:p14="http://schemas.microsoft.com/office/powerpoint/2010/main" val="3660201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Symmetrical</a:t>
            </a:r>
            <a:endParaRPr lang="en-US" dirty="0"/>
          </a:p>
        </p:txBody>
      </p:sp>
      <p:pic>
        <p:nvPicPr>
          <p:cNvPr id="4" name="Content Placeholder 3" descr="Symmetrical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447800"/>
            <a:ext cx="8229600" cy="4104917"/>
          </a:xfrm>
        </p:spPr>
      </p:pic>
    </p:spTree>
    <p:extLst>
      <p:ext uri="{BB962C8B-B14F-4D97-AF65-F5344CB8AC3E}">
        <p14:creationId xmlns:p14="http://schemas.microsoft.com/office/powerpoint/2010/main" val="2744919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Ascending Triangle 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4040188" cy="46482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b="0" dirty="0" smtClean="0"/>
              <a:t>Occurs in uptrend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Bullish pattern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Upper trendline will be flat              and lower will ascending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Volume decreases towards    apex and increases at breakout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Triangle at bottom will be reversal </a:t>
            </a:r>
          </a:p>
          <a:p>
            <a:pPr>
              <a:buFont typeface="Arial" pitchFamily="34" charset="0"/>
              <a:buChar char="•"/>
            </a:pPr>
            <a:r>
              <a:rPr lang="en-US" b="0" dirty="0" smtClean="0"/>
              <a:t>Price target will be on basis of height of the base</a:t>
            </a:r>
          </a:p>
          <a:p>
            <a:endParaRPr lang="en-US" dirty="0"/>
          </a:p>
        </p:txBody>
      </p:sp>
      <p:pic>
        <p:nvPicPr>
          <p:cNvPr id="10" name="Content Placeholder 9" descr="ascending triangle at bottom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81600" y="3810000"/>
            <a:ext cx="3352800" cy="2209800"/>
          </a:xfrm>
        </p:spPr>
      </p:pic>
      <p:pic>
        <p:nvPicPr>
          <p:cNvPr id="5" name="Content Placeholder 4" descr="ascending triangle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181600" y="1447800"/>
            <a:ext cx="3352800" cy="2362200"/>
          </a:xfrm>
        </p:spPr>
      </p:pic>
    </p:spTree>
    <p:extLst>
      <p:ext uri="{BB962C8B-B14F-4D97-AF65-F5344CB8AC3E}">
        <p14:creationId xmlns:p14="http://schemas.microsoft.com/office/powerpoint/2010/main" val="2651706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Ascending Triangle</a:t>
            </a:r>
            <a:endParaRPr lang="en-US" dirty="0"/>
          </a:p>
        </p:txBody>
      </p:sp>
      <p:pic>
        <p:nvPicPr>
          <p:cNvPr id="4" name="Content Placeholder 3" descr="Ascending Triangle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807431"/>
            <a:ext cx="8229600" cy="4111500"/>
          </a:xfrm>
        </p:spPr>
      </p:pic>
    </p:spTree>
    <p:extLst>
      <p:ext uri="{BB962C8B-B14F-4D97-AF65-F5344CB8AC3E}">
        <p14:creationId xmlns:p14="http://schemas.microsoft.com/office/powerpoint/2010/main" val="3761094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Descending Triangle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419600" cy="4648200"/>
          </a:xfrm>
        </p:spPr>
        <p:txBody>
          <a:bodyPr>
            <a:normAutofit fontScale="925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Occurs in downtrend</a:t>
            </a:r>
          </a:p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Bearish pattern</a:t>
            </a:r>
          </a:p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Lower trendline will be flat                and upper will be descending</a:t>
            </a:r>
          </a:p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Volume decreases towards    apex and increases at breakout</a:t>
            </a:r>
          </a:p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Triangle at top will be reversal </a:t>
            </a:r>
          </a:p>
          <a:p>
            <a:pPr>
              <a:buFont typeface="Arial" pitchFamily="34" charset="0"/>
              <a:buChar char="•"/>
            </a:pPr>
            <a:r>
              <a:rPr lang="en-US" sz="3000" b="0" dirty="0" smtClean="0"/>
              <a:t>Price target will be on basis of  height of the base</a:t>
            </a:r>
          </a:p>
          <a:p>
            <a:endParaRPr lang="en-US" dirty="0"/>
          </a:p>
        </p:txBody>
      </p:sp>
      <p:pic>
        <p:nvPicPr>
          <p:cNvPr id="9" name="Content Placeholder 8" descr="descending triangle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53000" y="1447800"/>
            <a:ext cx="3581400" cy="2209800"/>
          </a:xfrm>
        </p:spPr>
      </p:pic>
      <p:pic>
        <p:nvPicPr>
          <p:cNvPr id="10" name="Content Placeholder 9" descr="descending triangle at top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953000" y="3713624"/>
            <a:ext cx="3581400" cy="2077576"/>
          </a:xfrm>
        </p:spPr>
      </p:pic>
    </p:spTree>
    <p:extLst>
      <p:ext uri="{BB962C8B-B14F-4D97-AF65-F5344CB8AC3E}">
        <p14:creationId xmlns:p14="http://schemas.microsoft.com/office/powerpoint/2010/main" val="1458364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Looks like rectangle or parallelogram</a:t>
            </a:r>
          </a:p>
          <a:p>
            <a:r>
              <a:rPr lang="en-US" dirty="0" smtClean="0"/>
              <a:t>Occurs in sharp trend for short period of time</a:t>
            </a:r>
          </a:p>
          <a:p>
            <a:r>
              <a:rPr lang="en-US" dirty="0" smtClean="0"/>
              <a:t>Average duration is 1 – 4 weeks</a:t>
            </a:r>
          </a:p>
          <a:p>
            <a:r>
              <a:rPr lang="en-US" dirty="0" smtClean="0"/>
              <a:t>Locating price target is the measurement of the flagpole at breakout</a:t>
            </a:r>
            <a:endParaRPr lang="en-US" dirty="0"/>
          </a:p>
        </p:txBody>
      </p:sp>
      <p:pic>
        <p:nvPicPr>
          <p:cNvPr id="5" name="Content Placeholder 4" descr="Flag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52975" y="1786731"/>
            <a:ext cx="3829050" cy="4152900"/>
          </a:xfrm>
        </p:spPr>
      </p:pic>
    </p:spTree>
    <p:extLst>
      <p:ext uri="{BB962C8B-B14F-4D97-AF65-F5344CB8AC3E}">
        <p14:creationId xmlns:p14="http://schemas.microsoft.com/office/powerpoint/2010/main" val="222292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Flag</a:t>
            </a:r>
            <a:endParaRPr lang="en-US" dirty="0"/>
          </a:p>
        </p:txBody>
      </p:sp>
      <p:pic>
        <p:nvPicPr>
          <p:cNvPr id="4" name="Content Placeholder 3" descr="Flag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76386"/>
            <a:ext cx="8229600" cy="3973590"/>
          </a:xfrm>
        </p:spPr>
      </p:pic>
    </p:spTree>
    <p:extLst>
      <p:ext uri="{BB962C8B-B14F-4D97-AF65-F5344CB8AC3E}">
        <p14:creationId xmlns:p14="http://schemas.microsoft.com/office/powerpoint/2010/main" val="3259698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Pennant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Looks like a symmetrical triangle</a:t>
            </a:r>
          </a:p>
          <a:p>
            <a:r>
              <a:rPr lang="en-US" dirty="0" smtClean="0"/>
              <a:t>Occurs in sharp trend for short period of time</a:t>
            </a:r>
          </a:p>
          <a:p>
            <a:r>
              <a:rPr lang="en-US" dirty="0" smtClean="0"/>
              <a:t>Average duration is 1 – 4 weeks</a:t>
            </a:r>
          </a:p>
          <a:p>
            <a:r>
              <a:rPr lang="en-US" dirty="0" smtClean="0"/>
              <a:t>Locating price target is the measurement of the pole at breakout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Content Placeholder 4" descr="Pennant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00600" y="1853406"/>
            <a:ext cx="3733800" cy="4019550"/>
          </a:xfrm>
        </p:spPr>
      </p:pic>
    </p:spTree>
    <p:extLst>
      <p:ext uri="{BB962C8B-B14F-4D97-AF65-F5344CB8AC3E}">
        <p14:creationId xmlns:p14="http://schemas.microsoft.com/office/powerpoint/2010/main" val="3439609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Pennant</a:t>
            </a:r>
            <a:endParaRPr lang="en-US" dirty="0"/>
          </a:p>
        </p:txBody>
      </p:sp>
      <p:pic>
        <p:nvPicPr>
          <p:cNvPr id="4" name="Content Placeholder 3" descr="Pennant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53460"/>
            <a:ext cx="8229600" cy="4219442"/>
          </a:xfrm>
        </p:spPr>
      </p:pic>
    </p:spTree>
    <p:extLst>
      <p:ext uri="{BB962C8B-B14F-4D97-AF65-F5344CB8AC3E}">
        <p14:creationId xmlns:p14="http://schemas.microsoft.com/office/powerpoint/2010/main" val="2086548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Wedges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57200" y="990601"/>
            <a:ext cx="4040188" cy="609600"/>
          </a:xfrm>
        </p:spPr>
        <p:txBody>
          <a:bodyPr/>
          <a:lstStyle/>
          <a:p>
            <a:pPr algn="ctr"/>
            <a:r>
              <a:rPr lang="en-US" dirty="0" smtClean="0"/>
              <a:t>Falling Wedges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" y="1905001"/>
            <a:ext cx="4040188" cy="4221162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Looks like symmetrical triangle but tilted downwards</a:t>
            </a:r>
          </a:p>
          <a:p>
            <a:r>
              <a:rPr lang="en-US" sz="3000" dirty="0" smtClean="0"/>
              <a:t>It’s a bullish pattern</a:t>
            </a:r>
          </a:p>
          <a:p>
            <a:r>
              <a:rPr lang="en-US" sz="3000" dirty="0" smtClean="0"/>
              <a:t>Average duration is 1 month to few months</a:t>
            </a:r>
          </a:p>
          <a:p>
            <a:r>
              <a:rPr lang="en-US" sz="3000" dirty="0" smtClean="0"/>
              <a:t>In a downtrend it can be a reversal pattern at bottom</a:t>
            </a:r>
          </a:p>
          <a:p>
            <a:r>
              <a:rPr lang="en-US" sz="3000" dirty="0" smtClean="0"/>
              <a:t>In an uptrend it can be a continuous pattern</a:t>
            </a:r>
          </a:p>
          <a:p>
            <a:endParaRPr lang="en-US" dirty="0"/>
          </a:p>
        </p:txBody>
      </p:sp>
      <p:pic>
        <p:nvPicPr>
          <p:cNvPr id="10" name="Content Placeholder 9" descr="Falling Wedges.jp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5025" y="2209800"/>
            <a:ext cx="4041775" cy="3352800"/>
          </a:xfrm>
        </p:spPr>
      </p:pic>
    </p:spTree>
    <p:extLst>
      <p:ext uri="{BB962C8B-B14F-4D97-AF65-F5344CB8AC3E}">
        <p14:creationId xmlns:p14="http://schemas.microsoft.com/office/powerpoint/2010/main" val="2412458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Wedges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1"/>
            <a:ext cx="4040188" cy="685800"/>
          </a:xfrm>
        </p:spPr>
        <p:txBody>
          <a:bodyPr/>
          <a:lstStyle/>
          <a:p>
            <a:r>
              <a:rPr lang="en-US" dirty="0" smtClean="0"/>
              <a:t>Rising Wedges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Looks like symmetrical triangle but tilted upwards</a:t>
            </a:r>
          </a:p>
          <a:p>
            <a:r>
              <a:rPr lang="en-US" sz="2800" dirty="0" smtClean="0"/>
              <a:t>It’s a bearish pattern</a:t>
            </a:r>
          </a:p>
          <a:p>
            <a:r>
              <a:rPr lang="en-US" sz="2800" dirty="0" smtClean="0"/>
              <a:t>Average duration is 1 month to few months</a:t>
            </a:r>
          </a:p>
          <a:p>
            <a:r>
              <a:rPr lang="en-US" sz="2800" dirty="0" smtClean="0"/>
              <a:t>In a downtrend it can be a continuous pattern </a:t>
            </a:r>
          </a:p>
          <a:p>
            <a:r>
              <a:rPr lang="en-US" sz="2800" dirty="0" smtClean="0"/>
              <a:t>In an uptrend it can be a reversal pattern</a:t>
            </a:r>
          </a:p>
          <a:p>
            <a:endParaRPr lang="en-US" dirty="0"/>
          </a:p>
        </p:txBody>
      </p:sp>
      <p:pic>
        <p:nvPicPr>
          <p:cNvPr id="7" name="Content Placeholder 6" descr="Rising Wedges.jpg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45025" y="2362200"/>
            <a:ext cx="4041775" cy="3200400"/>
          </a:xfrm>
        </p:spPr>
      </p:pic>
    </p:spTree>
    <p:extLst>
      <p:ext uri="{BB962C8B-B14F-4D97-AF65-F5344CB8AC3E}">
        <p14:creationId xmlns:p14="http://schemas.microsoft.com/office/powerpoint/2010/main" val="2194140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Rectangle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06963"/>
          </a:xfrm>
        </p:spPr>
        <p:txBody>
          <a:bodyPr>
            <a:noAutofit/>
          </a:bodyPr>
          <a:lstStyle/>
          <a:p>
            <a:r>
              <a:rPr lang="en-US" sz="2600" dirty="0" smtClean="0"/>
              <a:t>Occurs in uptrend or downtrend as a pause</a:t>
            </a:r>
          </a:p>
          <a:p>
            <a:r>
              <a:rPr lang="en-US" sz="2600" dirty="0" smtClean="0"/>
              <a:t>Minimum 2 peaks and 2 troughs</a:t>
            </a:r>
          </a:p>
          <a:p>
            <a:r>
              <a:rPr lang="en-US" sz="2600" dirty="0" smtClean="0"/>
              <a:t>Average duration is 1 month to few months</a:t>
            </a:r>
          </a:p>
          <a:p>
            <a:r>
              <a:rPr lang="en-US" sz="2600" dirty="0" smtClean="0"/>
              <a:t>Need to be aware that it looks like triple tops and bottoms</a:t>
            </a:r>
          </a:p>
          <a:p>
            <a:r>
              <a:rPr lang="en-US" sz="2600" dirty="0" smtClean="0"/>
              <a:t>Volume importance</a:t>
            </a:r>
          </a:p>
          <a:p>
            <a:r>
              <a:rPr lang="en-US" sz="2600" dirty="0" smtClean="0"/>
              <a:t>Generally longer the pattern, breakout is more significant</a:t>
            </a:r>
            <a:endParaRPr lang="en-US" sz="2600" dirty="0"/>
          </a:p>
        </p:txBody>
      </p:sp>
      <p:pic>
        <p:nvPicPr>
          <p:cNvPr id="5" name="Content Placeholder 4" descr="rectangle formation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981200"/>
            <a:ext cx="4038600" cy="3352800"/>
          </a:xfrm>
        </p:spPr>
      </p:pic>
    </p:spTree>
    <p:extLst>
      <p:ext uri="{BB962C8B-B14F-4D97-AF65-F5344CB8AC3E}">
        <p14:creationId xmlns:p14="http://schemas.microsoft.com/office/powerpoint/2010/main" val="1448311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Rectangle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>
            <a:noAutofit/>
          </a:bodyPr>
          <a:lstStyle/>
          <a:p>
            <a:r>
              <a:rPr lang="en-US" sz="2600" dirty="0" smtClean="0"/>
              <a:t>Occurs in uptrend or downtrend as a pause</a:t>
            </a:r>
          </a:p>
          <a:p>
            <a:r>
              <a:rPr lang="en-US" sz="2600" dirty="0" smtClean="0"/>
              <a:t>Minimum 2 peaks and 2 troughs</a:t>
            </a:r>
          </a:p>
          <a:p>
            <a:r>
              <a:rPr lang="en-US" sz="2600" dirty="0" smtClean="0"/>
              <a:t>Average duration is 1 month to few months</a:t>
            </a:r>
          </a:p>
          <a:p>
            <a:r>
              <a:rPr lang="en-US" sz="2600" dirty="0" smtClean="0"/>
              <a:t>Need to be aware that it looks like triple tops and bottoms</a:t>
            </a:r>
          </a:p>
          <a:p>
            <a:r>
              <a:rPr lang="en-US" sz="2600" dirty="0" smtClean="0"/>
              <a:t>Volume importance</a:t>
            </a:r>
          </a:p>
          <a:p>
            <a:r>
              <a:rPr lang="en-US" sz="2600" dirty="0" smtClean="0"/>
              <a:t>Generally longer the pattern, breakout is more significant</a:t>
            </a:r>
            <a:endParaRPr lang="en-US" sz="2600" dirty="0"/>
          </a:p>
        </p:txBody>
      </p:sp>
      <p:pic>
        <p:nvPicPr>
          <p:cNvPr id="5" name="Content Placeholder 4" descr="rectangle formation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981200"/>
            <a:ext cx="4038600" cy="3352800"/>
          </a:xfrm>
        </p:spPr>
      </p:pic>
    </p:spTree>
    <p:extLst>
      <p:ext uri="{BB962C8B-B14F-4D97-AF65-F5344CB8AC3E}">
        <p14:creationId xmlns:p14="http://schemas.microsoft.com/office/powerpoint/2010/main" val="1448311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Broadening Triangle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6700" dirty="0" smtClean="0"/>
              <a:t>Just like inverted triangle</a:t>
            </a:r>
          </a:p>
          <a:p>
            <a:r>
              <a:rPr lang="en-US" sz="6700" dirty="0" smtClean="0"/>
              <a:t>Trendlines diverge </a:t>
            </a:r>
          </a:p>
          <a:p>
            <a:r>
              <a:rPr lang="en-US" sz="6700" dirty="0" smtClean="0"/>
              <a:t>Generally occurs on market tops therefore, usually bearish formation</a:t>
            </a:r>
          </a:p>
          <a:p>
            <a:r>
              <a:rPr lang="en-US" sz="6700" dirty="0" smtClean="0"/>
              <a:t>Known as megaphone</a:t>
            </a:r>
          </a:p>
          <a:p>
            <a:r>
              <a:rPr lang="en-US" sz="6700" dirty="0" smtClean="0"/>
              <a:t>Volume increases as it broadens indicating, emotional, volatile and public participation</a:t>
            </a:r>
          </a:p>
          <a:p>
            <a:endParaRPr lang="en-US" dirty="0"/>
          </a:p>
        </p:txBody>
      </p:sp>
      <p:pic>
        <p:nvPicPr>
          <p:cNvPr id="5" name="Content Placeholder 4" descr="Broadening Triangle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969663"/>
            <a:ext cx="4038600" cy="3787037"/>
          </a:xfrm>
        </p:spPr>
      </p:pic>
    </p:spTree>
    <p:extLst>
      <p:ext uri="{BB962C8B-B14F-4D97-AF65-F5344CB8AC3E}">
        <p14:creationId xmlns:p14="http://schemas.microsoft.com/office/powerpoint/2010/main" val="1233338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Cup with Handle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Looks like a cup and handle</a:t>
            </a:r>
          </a:p>
          <a:p>
            <a:r>
              <a:rPr lang="en-US" dirty="0" smtClean="0"/>
              <a:t>Bullish pattern</a:t>
            </a:r>
          </a:p>
          <a:p>
            <a:r>
              <a:rPr lang="en-US" dirty="0" smtClean="0"/>
              <a:t>Average duration is from 1 month to many months</a:t>
            </a:r>
          </a:p>
          <a:p>
            <a:r>
              <a:rPr lang="en-US" dirty="0" smtClean="0"/>
              <a:t>Price target can be projected with the depth of the cup from the rim</a:t>
            </a:r>
            <a:endParaRPr lang="en-US" dirty="0"/>
          </a:p>
        </p:txBody>
      </p:sp>
      <p:pic>
        <p:nvPicPr>
          <p:cNvPr id="5" name="Content Placeholder 4" descr="cup with handle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828800"/>
            <a:ext cx="4038600" cy="3581400"/>
          </a:xfrm>
        </p:spPr>
      </p:pic>
    </p:spTree>
    <p:extLst>
      <p:ext uri="{BB962C8B-B14F-4D97-AF65-F5344CB8AC3E}">
        <p14:creationId xmlns:p14="http://schemas.microsoft.com/office/powerpoint/2010/main" val="3453237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Rounding Bottom or Saucer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Looks like cup and handle but sometimes don’t have handle</a:t>
            </a:r>
          </a:p>
          <a:p>
            <a:r>
              <a:rPr lang="en-US" dirty="0" smtClean="0"/>
              <a:t>Long term pattern</a:t>
            </a:r>
          </a:p>
          <a:p>
            <a:r>
              <a:rPr lang="en-US" dirty="0" smtClean="0"/>
              <a:t>Usually duration of pattern formation is many months to several year</a:t>
            </a:r>
          </a:p>
          <a:p>
            <a:r>
              <a:rPr lang="en-US" dirty="0" smtClean="0"/>
              <a:t>Identified with weekly or monthly chart</a:t>
            </a:r>
          </a:p>
          <a:p>
            <a:endParaRPr lang="en-US" dirty="0"/>
          </a:p>
        </p:txBody>
      </p:sp>
      <p:pic>
        <p:nvPicPr>
          <p:cNvPr id="5" name="Content Placeholder 4" descr="saucer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24400" y="2362200"/>
            <a:ext cx="4038600" cy="2667000"/>
          </a:xfrm>
        </p:spPr>
      </p:pic>
    </p:spTree>
    <p:extLst>
      <p:ext uri="{BB962C8B-B14F-4D97-AF65-F5344CB8AC3E}">
        <p14:creationId xmlns:p14="http://schemas.microsoft.com/office/powerpoint/2010/main" val="702120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52600"/>
            <a:ext cx="8229600" cy="2819400"/>
          </a:xfrm>
        </p:spPr>
        <p:txBody>
          <a:bodyPr/>
          <a:lstStyle/>
          <a:p>
            <a:pPr algn="l"/>
            <a:r>
              <a:rPr lang="en-US" b="1" dirty="0" smtClean="0"/>
              <a:t>- STOP   LOSS</a:t>
            </a:r>
            <a:br>
              <a:rPr lang="en-US" b="1" dirty="0" smtClean="0"/>
            </a:br>
            <a:r>
              <a:rPr lang="en-US" b="1" dirty="0" smtClean="0"/>
              <a:t>- TRAILING STOP LOSS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6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947</Words>
  <Application>Microsoft Office PowerPoint</Application>
  <PresentationFormat>On-screen Show (4:3)</PresentationFormat>
  <Paragraphs>176</Paragraphs>
  <Slides>37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CHART   PATTERNS</vt:lpstr>
      <vt:lpstr>Chart Patterns</vt:lpstr>
      <vt:lpstr>Volume </vt:lpstr>
      <vt:lpstr>Volume is recorded at the bottom of the chart.</vt:lpstr>
      <vt:lpstr>Common Chart Patterns</vt:lpstr>
      <vt:lpstr>Reversal Patterns – Common points </vt:lpstr>
      <vt:lpstr>Head and Shoulder</vt:lpstr>
      <vt:lpstr>Head and Shoulder</vt:lpstr>
      <vt:lpstr>Inverted Head and Shoulder</vt:lpstr>
      <vt:lpstr>Triple Tops</vt:lpstr>
      <vt:lpstr>Triple Tops</vt:lpstr>
      <vt:lpstr>Triple Bottoms</vt:lpstr>
      <vt:lpstr>Double Tops</vt:lpstr>
      <vt:lpstr>Double Tops</vt:lpstr>
      <vt:lpstr>Double Bottoms</vt:lpstr>
      <vt:lpstr>Double Bottoms</vt:lpstr>
      <vt:lpstr>Continuation Patterns</vt:lpstr>
      <vt:lpstr>Triangle Patterns</vt:lpstr>
      <vt:lpstr>Symmetrical Triangle </vt:lpstr>
      <vt:lpstr>Symmetrical Triangle</vt:lpstr>
      <vt:lpstr>Symmetrical Triangle</vt:lpstr>
      <vt:lpstr>Symmetrical</vt:lpstr>
      <vt:lpstr>Ascending Triangle </vt:lpstr>
      <vt:lpstr>Ascending Triangle</vt:lpstr>
      <vt:lpstr>Descending Triangle </vt:lpstr>
      <vt:lpstr>Flag</vt:lpstr>
      <vt:lpstr>Flag</vt:lpstr>
      <vt:lpstr>Pennant</vt:lpstr>
      <vt:lpstr>Pennant</vt:lpstr>
      <vt:lpstr>Wedges</vt:lpstr>
      <vt:lpstr>Wedges</vt:lpstr>
      <vt:lpstr>Rectangle</vt:lpstr>
      <vt:lpstr>Rectangle</vt:lpstr>
      <vt:lpstr>Broadening Triangle</vt:lpstr>
      <vt:lpstr>Cup with Handle</vt:lpstr>
      <vt:lpstr>Rounding Bottom or Saucer</vt:lpstr>
      <vt:lpstr>- STOP   LOSS - TRAILING STOP LOSS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  PATTERNS</dc:title>
  <dc:creator>user</dc:creator>
  <cp:lastModifiedBy>user</cp:lastModifiedBy>
  <cp:revision>14</cp:revision>
  <cp:lastPrinted>2023-02-23T14:49:56Z</cp:lastPrinted>
  <dcterms:created xsi:type="dcterms:W3CDTF">2006-08-16T00:00:00Z</dcterms:created>
  <dcterms:modified xsi:type="dcterms:W3CDTF">2023-02-24T00:46:15Z</dcterms:modified>
</cp:coreProperties>
</file>