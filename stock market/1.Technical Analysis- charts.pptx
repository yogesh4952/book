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7"/>
  </p:handoutMasterIdLst>
  <p:sldIdLst>
    <p:sldId id="257" r:id="rId2"/>
    <p:sldId id="258" r:id="rId3"/>
    <p:sldId id="282" r:id="rId4"/>
    <p:sldId id="283" r:id="rId5"/>
    <p:sldId id="259" r:id="rId6"/>
    <p:sldId id="261" r:id="rId7"/>
    <p:sldId id="262" r:id="rId8"/>
    <p:sldId id="28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0433A-22C5-45AF-8396-D64692ECED23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42513-2FCB-46D1-B7A2-0D25ACF70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73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152400" y="228600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6000" b="1" dirty="0"/>
          </a:p>
          <a:p>
            <a:pPr algn="ctr"/>
            <a:endParaRPr lang="en-US" sz="6000" b="1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648200"/>
            <a:ext cx="7315200" cy="914400"/>
          </a:xfrm>
        </p:spPr>
        <p:txBody>
          <a:bodyPr>
            <a:noAutofit/>
          </a:bodyPr>
          <a:lstStyle/>
          <a:p>
            <a:pPr algn="ctr"/>
            <a:r>
              <a:rPr lang="en-US" sz="5400" dirty="0" smtClean="0"/>
              <a:t>Technical     Analysis</a:t>
            </a:r>
            <a:endParaRPr lang="en-US" sz="5400" dirty="0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9" r="2819"/>
          <a:stretch>
            <a:fillRect/>
          </a:stretch>
        </p:blipFill>
        <p:spPr>
          <a:xfrm>
            <a:off x="1066800" y="612775"/>
            <a:ext cx="7239000" cy="4114800"/>
          </a:xfrm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5029200" y="5638800"/>
            <a:ext cx="3505200" cy="685800"/>
          </a:xfrm>
        </p:spPr>
        <p:txBody>
          <a:bodyPr>
            <a:noAutofit/>
          </a:bodyPr>
          <a:lstStyle/>
          <a:p>
            <a:r>
              <a:rPr lang="en-US" sz="2400" i="1" dirty="0" smtClean="0"/>
              <a:t>By </a:t>
            </a:r>
            <a:r>
              <a:rPr lang="en-US" sz="2400" i="1" dirty="0" err="1" smtClean="0"/>
              <a:t>Santosh</a:t>
            </a:r>
            <a:r>
              <a:rPr lang="en-US" sz="2400" i="1" dirty="0" smtClean="0"/>
              <a:t> Singh </a:t>
            </a:r>
            <a:r>
              <a:rPr lang="en-US" sz="2400" i="1" dirty="0" err="1" smtClean="0"/>
              <a:t>Lingden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318361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524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Topics</a:t>
            </a:r>
            <a:r>
              <a:rPr lang="en-US" sz="4400" b="1" dirty="0" smtClean="0"/>
              <a:t>  </a:t>
            </a:r>
            <a:endParaRPr lang="en-US" sz="4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610600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b="1" dirty="0" smtClean="0"/>
              <a:t>Introduction to Technical Analysis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b="1" dirty="0" smtClean="0"/>
              <a:t>Types of Charts and Candlestick Patterns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b="1" dirty="0" smtClean="0"/>
              <a:t>Support / Resistance and Trend Line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b="1" dirty="0" smtClean="0"/>
              <a:t>Basic Concepts of Trends and Trend Analysis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b="1" dirty="0" smtClean="0"/>
              <a:t>Major Reversal Chart Patterns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b="1" dirty="0" smtClean="0"/>
              <a:t>Major Continuation Chart Patterns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b="1" dirty="0" smtClean="0"/>
              <a:t>Important Technical Indicators </a:t>
            </a:r>
          </a:p>
        </p:txBody>
      </p:sp>
    </p:spTree>
    <p:extLst>
      <p:ext uri="{BB962C8B-B14F-4D97-AF65-F5344CB8AC3E}">
        <p14:creationId xmlns:p14="http://schemas.microsoft.com/office/powerpoint/2010/main" val="3920599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ctr">
              <a:spcBef>
                <a:spcPts val="0"/>
              </a:spcBef>
            </a:pPr>
            <a:r>
              <a:rPr lang="en-US" sz="4000" b="1" cap="none" dirty="0" smtClean="0">
                <a:solidFill>
                  <a:prstClr val="black"/>
                </a:solidFill>
                <a:effectLst/>
                <a:latin typeface="Franklin Gothic Book"/>
                <a:ea typeface="+mn-ea"/>
                <a:cs typeface="+mn-cs"/>
              </a:rPr>
              <a:t>Types of  Analysis </a:t>
            </a:r>
            <a:r>
              <a:rPr lang="en-US" b="1" cap="none" dirty="0">
                <a:solidFill>
                  <a:prstClr val="black"/>
                </a:solidFill>
                <a:effectLst/>
                <a:latin typeface="Franklin Gothic Book"/>
                <a:ea typeface="+mn-ea"/>
                <a:cs typeface="+mn-cs"/>
              </a:rPr>
              <a:t/>
            </a:r>
            <a:br>
              <a:rPr lang="en-US" b="1" cap="none" dirty="0">
                <a:solidFill>
                  <a:prstClr val="black"/>
                </a:solidFill>
                <a:effectLst/>
                <a:latin typeface="Franklin Gothic Book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</a:rPr>
              <a:t>Fundamental</a:t>
            </a:r>
            <a:r>
              <a:rPr lang="en-US" dirty="0" smtClean="0">
                <a:solidFill>
                  <a:schemeClr val="tx1"/>
                </a:solidFill>
              </a:rPr>
              <a:t>  </a:t>
            </a:r>
            <a:r>
              <a:rPr lang="en-US" sz="2400" b="1" dirty="0" smtClean="0">
                <a:solidFill>
                  <a:schemeClr val="tx1"/>
                </a:solidFill>
              </a:rPr>
              <a:t>Analysis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</a:rPr>
              <a:t>Technical 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500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cap="none" dirty="0" smtClean="0">
                <a:solidFill>
                  <a:prstClr val="black"/>
                </a:solidFill>
                <a:effectLst/>
              </a:rPr>
              <a:t>Fundamental  Analysis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686800" cy="4479925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</a:rPr>
              <a:t>Intrinsic Value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sz="2400" b="1" dirty="0" err="1" smtClean="0">
                <a:solidFill>
                  <a:schemeClr val="tx1"/>
                </a:solidFill>
              </a:rPr>
              <a:t>Eps</a:t>
            </a:r>
            <a:r>
              <a:rPr lang="en-US" sz="2400" b="1" dirty="0" smtClean="0">
                <a:solidFill>
                  <a:schemeClr val="tx1"/>
                </a:solidFill>
              </a:rPr>
              <a:t>, PE ratio , Net profit </a:t>
            </a:r>
            <a:r>
              <a:rPr lang="en-US" sz="2400" b="1" dirty="0" err="1" smtClean="0">
                <a:solidFill>
                  <a:schemeClr val="tx1"/>
                </a:solidFill>
              </a:rPr>
              <a:t>etc</a:t>
            </a:r>
            <a:endParaRPr lang="en-US" sz="2400" b="1" dirty="0" smtClean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</a:rPr>
              <a:t>BOP, interest </a:t>
            </a:r>
            <a:r>
              <a:rPr lang="en-US" sz="2400" b="1" dirty="0" err="1" smtClean="0">
                <a:solidFill>
                  <a:schemeClr val="tx1"/>
                </a:solidFill>
              </a:rPr>
              <a:t>etc</a:t>
            </a:r>
            <a:endParaRPr lang="en-US" sz="2400" b="1" dirty="0" smtClean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</a:rPr>
              <a:t>External factors</a:t>
            </a:r>
          </a:p>
          <a:p>
            <a:pPr>
              <a:buFont typeface="Wingdings" pitchFamily="2" charset="2"/>
              <a:buChar char="§"/>
            </a:pP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888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cap="none" dirty="0" smtClean="0">
                <a:solidFill>
                  <a:prstClr val="black"/>
                </a:solidFill>
                <a:effectLst/>
              </a:rPr>
              <a:t>Technical  Analysis is about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</a:rPr>
              <a:t>Prediction of market on the basis of past price and volume.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</a:rPr>
              <a:t>Chart patterns and other technical indicators.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sz="2800" b="1" dirty="0" smtClean="0">
                <a:solidFill>
                  <a:schemeClr val="tx1"/>
                </a:solidFill>
              </a:rPr>
              <a:t>It </a:t>
            </a:r>
            <a:r>
              <a:rPr lang="en-US" sz="2800" b="1" dirty="0">
                <a:solidFill>
                  <a:schemeClr val="tx1"/>
                </a:solidFill>
              </a:rPr>
              <a:t>ignores all the factors other than the price</a:t>
            </a:r>
          </a:p>
          <a:p>
            <a:pPr>
              <a:buClrTx/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78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 smtClean="0">
                <a:solidFill>
                  <a:schemeClr val="tx1"/>
                </a:solidFill>
              </a:rPr>
              <a:t>Advantages</a:t>
            </a:r>
            <a:endParaRPr lang="en-US" cap="none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dirty="0" smtClean="0">
                <a:solidFill>
                  <a:schemeClr val="tx1"/>
                </a:solidFill>
              </a:rPr>
              <a:t>Trend  direction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 smtClean="0">
                <a:solidFill>
                  <a:schemeClr val="tx1"/>
                </a:solidFill>
              </a:rPr>
              <a:t>Entry   and   exit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 smtClean="0">
                <a:solidFill>
                  <a:schemeClr val="tx1"/>
                </a:solidFill>
              </a:rPr>
              <a:t>Crowd  psychology / sentiment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 smtClean="0"/>
              <a:t>Flexibility with any market</a:t>
            </a:r>
            <a:endParaRPr lang="en-US" sz="2800" b="1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endParaRPr lang="en-US" sz="2400" b="1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742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 smtClean="0">
                <a:solidFill>
                  <a:schemeClr val="tx1"/>
                </a:solidFill>
              </a:rPr>
              <a:t>Disadvantages </a:t>
            </a:r>
            <a:endParaRPr lang="en-US" cap="none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dirty="0" smtClean="0">
                <a:solidFill>
                  <a:schemeClr val="tx1"/>
                </a:solidFill>
              </a:rPr>
              <a:t>Sometimes  different  signals  by  different   indicators.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 smtClean="0">
                <a:solidFill>
                  <a:schemeClr val="tx1"/>
                </a:solidFill>
              </a:rPr>
              <a:t>Not  100%  accurate.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 smtClean="0">
                <a:solidFill>
                  <a:schemeClr val="tx1"/>
                </a:solidFill>
              </a:rPr>
              <a:t>Different  opinion of  analysts.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482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Dow Theory Principles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dirty="0" smtClean="0"/>
              <a:t>Price discounts everything.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 smtClean="0"/>
              <a:t>Market has 3 trends. Major, Secondary and Minor.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 smtClean="0"/>
              <a:t>Major trend of 3 phases. Accumulation, Public participation and Distribution.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 smtClean="0"/>
              <a:t>The averages must confirm each other.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 smtClean="0"/>
              <a:t>Volume must confirm the trend.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 smtClean="0"/>
              <a:t>The trend continues until it gives definite reversal signal.</a:t>
            </a:r>
          </a:p>
        </p:txBody>
      </p:sp>
    </p:spTree>
    <p:extLst>
      <p:ext uri="{BB962C8B-B14F-4D97-AF65-F5344CB8AC3E}">
        <p14:creationId xmlns:p14="http://schemas.microsoft.com/office/powerpoint/2010/main" val="1811502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62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Types of Charts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1999749"/>
            <a:ext cx="8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Most popularly there are three types of charts</a:t>
            </a:r>
            <a:r>
              <a:rPr lang="en-US" sz="2400" b="1" dirty="0" smtClean="0"/>
              <a:t>: </a:t>
            </a:r>
            <a:endParaRPr lang="en-US" sz="2400" b="1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191000"/>
            <a:ext cx="8229600" cy="2228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09600" y="3682425"/>
            <a:ext cx="205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Line Chart</a:t>
            </a:r>
            <a:endParaRPr lang="en-US" sz="32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276600" y="3651833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Bar Chart </a:t>
            </a:r>
            <a:endParaRPr lang="en-US" sz="3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486400" y="3682425"/>
            <a:ext cx="320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Candlestick Chart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965694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24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Candlestick Chart </a:t>
            </a:r>
            <a:endParaRPr lang="en-US" sz="36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77509"/>
            <a:ext cx="8839200" cy="2751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2400" y="1630740"/>
            <a:ext cx="8686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b="1" dirty="0" smtClean="0"/>
              <a:t>It is widely used in technical analysis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b="1" dirty="0" smtClean="0"/>
              <a:t>It is similar to bar charts but it has better visual construction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b="1" dirty="0" smtClean="0"/>
              <a:t>Bullish and bearish candles are differentiated by  two different colors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2463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24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Japanese Candlestick </a:t>
            </a:r>
            <a:endParaRPr lang="en-US" sz="36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264" y="1752600"/>
            <a:ext cx="6902536" cy="4761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8573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en-US" sz="3600" b="1" dirty="0">
                <a:solidFill>
                  <a:prstClr val="black"/>
                </a:solidFill>
                <a:ea typeface="+mn-ea"/>
                <a:cs typeface="+mn-cs"/>
              </a:rPr>
              <a:t>Candlestick Patterns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828800"/>
            <a:ext cx="5257800" cy="3962400"/>
          </a:xfrm>
        </p:spPr>
      </p:pic>
    </p:spTree>
    <p:extLst>
      <p:ext uri="{BB962C8B-B14F-4D97-AF65-F5344CB8AC3E}">
        <p14:creationId xmlns:p14="http://schemas.microsoft.com/office/powerpoint/2010/main" val="1065273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14300" y="1524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Candlestick Patterns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15425"/>
            <a:ext cx="381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 smtClean="0"/>
              <a:t>Doji</a:t>
            </a:r>
            <a:endParaRPr lang="en-US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6200" y="2133600"/>
            <a:ext cx="8915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Open and Close is same or near to same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Body is very thin, could be a horizontal line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It indicates indecision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It is a warning of a reversal </a:t>
            </a:r>
          </a:p>
          <a:p>
            <a:endParaRPr lang="en-US" sz="2400" b="1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67200" y="2935069"/>
            <a:ext cx="4114199" cy="3922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306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>
                <a:solidFill>
                  <a:prstClr val="black"/>
                </a:solidFill>
                <a:ea typeface="+mn-ea"/>
                <a:cs typeface="+mn-cs"/>
              </a:rPr>
              <a:t>Other  types of </a:t>
            </a:r>
            <a:r>
              <a:rPr lang="en-US" sz="3600" b="1" dirty="0" err="1" smtClean="0">
                <a:solidFill>
                  <a:prstClr val="black"/>
                </a:solidFill>
                <a:ea typeface="+mn-ea"/>
                <a:cs typeface="+mn-cs"/>
              </a:rPr>
              <a:t>Doji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91415"/>
            <a:ext cx="8229600" cy="3943532"/>
          </a:xfrm>
        </p:spPr>
      </p:pic>
    </p:spTree>
    <p:extLst>
      <p:ext uri="{BB962C8B-B14F-4D97-AF65-F5344CB8AC3E}">
        <p14:creationId xmlns:p14="http://schemas.microsoft.com/office/powerpoint/2010/main" val="3149724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524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Hanging Man and Hammer</a:t>
            </a:r>
            <a:endParaRPr lang="en-US" sz="3600" b="1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450068"/>
            <a:ext cx="3886200" cy="4184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-76200" y="1982212"/>
            <a:ext cx="6324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Real body is located at the upper end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Lower shadow is 2-3 times longer </a:t>
            </a:r>
          </a:p>
          <a:p>
            <a:r>
              <a:rPr lang="en-US" sz="2400" b="1" dirty="0" smtClean="0"/>
              <a:t>     than the real body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Upper shadow is small or nonexistent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Hanging </a:t>
            </a:r>
            <a:r>
              <a:rPr lang="en-US" sz="2400" b="1" dirty="0" err="1" smtClean="0"/>
              <a:t>man</a:t>
            </a:r>
            <a:r>
              <a:rPr lang="en-US" sz="2400" b="1" dirty="0" err="1" smtClean="0">
                <a:sym typeface="Wingdings" pitchFamily="2" charset="2"/>
              </a:rPr>
              <a:t>in</a:t>
            </a:r>
            <a:r>
              <a:rPr lang="en-US" sz="2400" b="1" dirty="0" smtClean="0">
                <a:sym typeface="Wingdings" pitchFamily="2" charset="2"/>
              </a:rPr>
              <a:t> uptrend market</a:t>
            </a:r>
          </a:p>
          <a:p>
            <a:r>
              <a:rPr lang="en-US" sz="2400" b="1" dirty="0">
                <a:sym typeface="Wingdings" pitchFamily="2" charset="2"/>
              </a:rPr>
              <a:t> </a:t>
            </a:r>
            <a:r>
              <a:rPr lang="en-US" sz="2400" b="1" dirty="0" smtClean="0">
                <a:sym typeface="Wingdings" pitchFamily="2" charset="2"/>
              </a:rPr>
              <a:t>    possible downside move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sym typeface="Wingdings" pitchFamily="2" charset="2"/>
              </a:rPr>
              <a:t>Hammer in a downtrend market</a:t>
            </a:r>
          </a:p>
          <a:p>
            <a:r>
              <a:rPr lang="en-US" sz="2400" b="1" dirty="0">
                <a:sym typeface="Wingdings" pitchFamily="2" charset="2"/>
              </a:rPr>
              <a:t> </a:t>
            </a:r>
            <a:r>
              <a:rPr lang="en-US" sz="2400" b="1" dirty="0" smtClean="0">
                <a:sym typeface="Wingdings" pitchFamily="2" charset="2"/>
              </a:rPr>
              <a:t>    possible upside move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err="1" smtClean="0">
                <a:sym typeface="Wingdings" pitchFamily="2" charset="2"/>
              </a:rPr>
              <a:t>Colour</a:t>
            </a:r>
            <a:r>
              <a:rPr lang="en-US" sz="2400" b="1" dirty="0" smtClean="0">
                <a:sym typeface="Wingdings" pitchFamily="2" charset="2"/>
              </a:rPr>
              <a:t> in both trend does not matter.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9571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Hammer and Hanging Man</a:t>
            </a:r>
            <a:endParaRPr lang="en-US" sz="36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" y="1958181"/>
            <a:ext cx="6667500" cy="3810000"/>
          </a:xfrm>
        </p:spPr>
      </p:pic>
    </p:spTree>
    <p:extLst>
      <p:ext uri="{BB962C8B-B14F-4D97-AF65-F5344CB8AC3E}">
        <p14:creationId xmlns:p14="http://schemas.microsoft.com/office/powerpoint/2010/main" val="2960473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685800"/>
            <a:ext cx="5867400" cy="5486400"/>
          </a:xfrm>
        </p:spPr>
      </p:pic>
    </p:spTree>
    <p:extLst>
      <p:ext uri="{BB962C8B-B14F-4D97-AF65-F5344CB8AC3E}">
        <p14:creationId xmlns:p14="http://schemas.microsoft.com/office/powerpoint/2010/main" val="3163531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Shooting Star and Inverted Hammer </a:t>
            </a:r>
            <a:endParaRPr lang="en-US" sz="36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191000"/>
            <a:ext cx="47244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0" y="1981200"/>
            <a:ext cx="5410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Real body is located at the </a:t>
            </a:r>
            <a:r>
              <a:rPr lang="en-US" sz="2400" b="1" dirty="0" smtClean="0"/>
              <a:t>lower </a:t>
            </a:r>
            <a:r>
              <a:rPr lang="en-US" sz="2400" b="1" dirty="0"/>
              <a:t>end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Upper </a:t>
            </a:r>
            <a:r>
              <a:rPr lang="en-US" sz="2400" b="1" dirty="0"/>
              <a:t>shadow is 2-3 times longer </a:t>
            </a:r>
          </a:p>
          <a:p>
            <a:r>
              <a:rPr lang="en-US" sz="2400" b="1" dirty="0"/>
              <a:t>     than the real body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Lower </a:t>
            </a:r>
            <a:r>
              <a:rPr lang="en-US" sz="2400" b="1" dirty="0"/>
              <a:t>shadow is small or nonexistent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sym typeface="Wingdings" pitchFamily="2" charset="2"/>
              </a:rPr>
              <a:t>Shooting star </a:t>
            </a:r>
            <a:r>
              <a:rPr lang="en-US" sz="2400" b="1" dirty="0">
                <a:sym typeface="Wingdings" pitchFamily="2" charset="2"/>
              </a:rPr>
              <a:t>in uptrend market</a:t>
            </a:r>
          </a:p>
          <a:p>
            <a:r>
              <a:rPr lang="en-US" sz="2400" b="1" dirty="0">
                <a:sym typeface="Wingdings" pitchFamily="2" charset="2"/>
              </a:rPr>
              <a:t>     possible downside move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sym typeface="Wingdings" pitchFamily="2" charset="2"/>
              </a:rPr>
              <a:t>Inverted Hammer</a:t>
            </a:r>
            <a:r>
              <a:rPr lang="en-US" sz="2400" b="1" dirty="0">
                <a:sym typeface="Wingdings" pitchFamily="2" charset="2"/>
              </a:rPr>
              <a:t> </a:t>
            </a:r>
          </a:p>
          <a:p>
            <a:r>
              <a:rPr lang="en-US" sz="2400" b="1" dirty="0" smtClean="0">
                <a:sym typeface="Wingdings" pitchFamily="2" charset="2"/>
              </a:rPr>
              <a:t>     in </a:t>
            </a:r>
            <a:r>
              <a:rPr lang="en-US" sz="2400" b="1" dirty="0">
                <a:sym typeface="Wingdings" pitchFamily="2" charset="2"/>
              </a:rPr>
              <a:t>a downtrend </a:t>
            </a:r>
            <a:endParaRPr lang="en-US" sz="2400" b="1" dirty="0" smtClean="0">
              <a:sym typeface="Wingdings" pitchFamily="2" charset="2"/>
            </a:endParaRPr>
          </a:p>
          <a:p>
            <a:r>
              <a:rPr lang="en-US" sz="2400" b="1" dirty="0" smtClean="0">
                <a:sym typeface="Wingdings" pitchFamily="2" charset="2"/>
              </a:rPr>
              <a:t>     market </a:t>
            </a:r>
            <a:r>
              <a:rPr lang="en-US" sz="2400" b="1" dirty="0">
                <a:sym typeface="Wingdings" pitchFamily="2" charset="2"/>
              </a:rPr>
              <a:t>possible upside move </a:t>
            </a:r>
            <a:endParaRPr lang="en-US" sz="2400" b="1" dirty="0" smtClean="0">
              <a:sym typeface="Wingdings" pitchFamily="2" charset="2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sym typeface="Wingdings" pitchFamily="2" charset="2"/>
              </a:rPr>
              <a:t>Reversal candlestick pattern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sym typeface="Wingdings" pitchFamily="2" charset="2"/>
              </a:rPr>
              <a:t>Can be any </a:t>
            </a:r>
            <a:r>
              <a:rPr lang="en-US" sz="2400" b="1" dirty="0" err="1" smtClean="0">
                <a:sym typeface="Wingdings" pitchFamily="2" charset="2"/>
              </a:rPr>
              <a:t>colour</a:t>
            </a:r>
            <a:endParaRPr lang="en-US" sz="2400" b="1" dirty="0" smtClean="0">
              <a:sym typeface="Wingdings" pitchFamily="2" charset="2"/>
            </a:endParaRP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94157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39074" y="2209801"/>
            <a:ext cx="4428726" cy="419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0" y="1524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Evening Star and Morning Star 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52400" y="2087940"/>
            <a:ext cx="563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Three bar candlestick pattern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Middle candle is a star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Reversal candlestick pattern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4046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Engulfing </a:t>
            </a:r>
            <a:endParaRPr lang="en-US" sz="36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000" y="3855660"/>
            <a:ext cx="6629400" cy="298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81000" y="2286000"/>
            <a:ext cx="8686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Second body engulfs the first body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It is a reversal candlestick pattern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Bearish engulfing indicates possible downside move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Bullish engulfing indicates possible upside move 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73604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334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Three Black Crows and Three White Soldiers </a:t>
            </a:r>
            <a:endParaRPr lang="en-US" sz="3600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95800" y="2133600"/>
            <a:ext cx="4572000" cy="3574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6200" y="2133600"/>
            <a:ext cx="502920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Three Black Crows: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3 long bearish candles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Formed after an uptrend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Powerful reversal formation 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b="1" dirty="0"/>
          </a:p>
          <a:p>
            <a:r>
              <a:rPr lang="en-US" sz="2800" b="1" dirty="0" smtClean="0"/>
              <a:t>Three White Soldiers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3 Long bullish candles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Formed after a downtrend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Powerful reversal formation 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1741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spcBef>
                <a:spcPts val="0"/>
              </a:spcBef>
            </a:pPr>
            <a:r>
              <a:rPr lang="en-US" sz="3600" b="1" dirty="0" smtClean="0">
                <a:solidFill>
                  <a:prstClr val="black"/>
                </a:solidFill>
                <a:ea typeface="+mn-ea"/>
                <a:cs typeface="+mn-cs"/>
              </a:rPr>
              <a:t>Piercing Line and Dark Cloud Cover </a:t>
            </a:r>
            <a:r>
              <a:rPr lang="en-US" sz="3600" b="1" dirty="0">
                <a:solidFill>
                  <a:prstClr val="black"/>
                </a:solidFill>
                <a:ea typeface="+mn-ea"/>
                <a:cs typeface="+mn-cs"/>
              </a:rPr>
              <a:t/>
            </a:r>
            <a:br>
              <a:rPr lang="en-US" sz="3600" b="1" dirty="0">
                <a:solidFill>
                  <a:prstClr val="black"/>
                </a:solidFill>
                <a:ea typeface="+mn-ea"/>
                <a:cs typeface="+mn-cs"/>
              </a:rPr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47800"/>
            <a:ext cx="7924800" cy="4724400"/>
          </a:xfrm>
        </p:spPr>
      </p:pic>
    </p:spTree>
    <p:extLst>
      <p:ext uri="{BB962C8B-B14F-4D97-AF65-F5344CB8AC3E}">
        <p14:creationId xmlns:p14="http://schemas.microsoft.com/office/powerpoint/2010/main" val="1834344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Spinning Tops</a:t>
            </a:r>
            <a:endParaRPr lang="en-US" sz="36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346722"/>
            <a:ext cx="7162800" cy="3536156"/>
          </a:xfrm>
        </p:spPr>
      </p:pic>
    </p:spTree>
    <p:extLst>
      <p:ext uri="{BB962C8B-B14F-4D97-AF65-F5344CB8AC3E}">
        <p14:creationId xmlns:p14="http://schemas.microsoft.com/office/powerpoint/2010/main" val="2850618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 smtClean="0"/>
              <a:t>Harami</a:t>
            </a:r>
            <a:r>
              <a:rPr lang="en-US" sz="3600" b="1" dirty="0" smtClean="0"/>
              <a:t> Candles</a:t>
            </a:r>
            <a:endParaRPr lang="en-US" sz="36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306" y="1600200"/>
            <a:ext cx="5109387" cy="4525963"/>
          </a:xfrm>
        </p:spPr>
      </p:pic>
    </p:spTree>
    <p:extLst>
      <p:ext uri="{BB962C8B-B14F-4D97-AF65-F5344CB8AC3E}">
        <p14:creationId xmlns:p14="http://schemas.microsoft.com/office/powerpoint/2010/main" val="22898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Candlestick Patterns 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6200" y="1600200"/>
            <a:ext cx="9067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Conclusion</a:t>
            </a:r>
          </a:p>
          <a:p>
            <a:endParaRPr lang="en-US" sz="32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Candlestick patterns are short term patterns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Candlestick patterns are often reversal patterns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Many times these patterns can be false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Should not rely simply on these patterns to make trading decisions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Key to making money is riding the trend, such patterns help us determine when a new trend is beginning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Such patterns can also help us determine when a  trend is ending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Allows us to enter soon in the trend and exit as quickly as possible 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b="1" dirty="0" smtClean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16463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564</Words>
  <Application>Microsoft Office PowerPoint</Application>
  <PresentationFormat>On-screen Show (4:3)</PresentationFormat>
  <Paragraphs>111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Technical     Analysis</vt:lpstr>
      <vt:lpstr>PowerPoint Presentation</vt:lpstr>
      <vt:lpstr>Types of  Analysis  </vt:lpstr>
      <vt:lpstr>Fundamental  Analysis</vt:lpstr>
      <vt:lpstr>Technical  Analysis is about</vt:lpstr>
      <vt:lpstr>Advantages</vt:lpstr>
      <vt:lpstr>Disadvantages </vt:lpstr>
      <vt:lpstr>Dow Theory Principles</vt:lpstr>
      <vt:lpstr>PowerPoint Presentation</vt:lpstr>
      <vt:lpstr>PowerPoint Presentation</vt:lpstr>
      <vt:lpstr>PowerPoint Presentation</vt:lpstr>
      <vt:lpstr>Candlestick Patterns</vt:lpstr>
      <vt:lpstr>PowerPoint Presentation</vt:lpstr>
      <vt:lpstr>Other  types of Doji</vt:lpstr>
      <vt:lpstr>PowerPoint Presentation</vt:lpstr>
      <vt:lpstr>Hammer and Hanging Man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Piercing Line and Dark Cloud Cover  </vt:lpstr>
      <vt:lpstr>Spinning Tops</vt:lpstr>
      <vt:lpstr>Harami Candles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18</cp:revision>
  <cp:lastPrinted>2023-02-24T01:01:46Z</cp:lastPrinted>
  <dcterms:created xsi:type="dcterms:W3CDTF">2006-08-16T00:00:00Z</dcterms:created>
  <dcterms:modified xsi:type="dcterms:W3CDTF">2023-03-29T02:05:19Z</dcterms:modified>
</cp:coreProperties>
</file>