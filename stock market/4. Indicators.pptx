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9" r:id="rId26"/>
    <p:sldId id="287" r:id="rId27"/>
    <p:sldId id="28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7A035-7CD9-4DDE-AF8B-C4BEA4BBF1B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813D4-6F31-4840-BD58-718DB73F5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94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52400" y="22860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6000" b="1" dirty="0" smtClean="0"/>
          </a:p>
          <a:p>
            <a:pPr algn="ctr"/>
            <a:endParaRPr lang="en-US" sz="6000" b="1" dirty="0" smtClean="0"/>
          </a:p>
          <a:p>
            <a:pPr algn="ctr"/>
            <a:r>
              <a:rPr lang="en-US" sz="6000" b="1" dirty="0" smtClean="0"/>
              <a:t> </a:t>
            </a:r>
            <a:r>
              <a:rPr lang="en-US" sz="7200" b="1" dirty="0" smtClean="0"/>
              <a:t>Technical Analysis Indicators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96616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1196876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/>
              <a:t>Moving Average 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25378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810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Moving Average </a:t>
            </a: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4300" y="1037133"/>
            <a:ext cx="89154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Averaged stock price of specified time period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One of the most successful methods of identifying and profiting from trends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One of the oldest tools used by technical analysts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Moving averages smooth the distorting fluctuations of market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Moving averages can act as a potential support and resistance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Moving averages helps to determine entry/exit zones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Lagging indicator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 smtClean="0"/>
          </a:p>
          <a:p>
            <a:r>
              <a:rPr lang="en-US" sz="2400" b="1" dirty="0" smtClean="0"/>
              <a:t>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/>
          </a:p>
        </p:txBody>
      </p:sp>
      <p:pic>
        <p:nvPicPr>
          <p:cNvPr id="2051" name="Picture 3" descr="D:\forex trading\merolagani\moving avear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276600"/>
            <a:ext cx="8305800" cy="341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25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0"/>
            <a:ext cx="8845902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7629" y="50373"/>
            <a:ext cx="83066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/>
              <a:t>Using Moving Average to Determine Trend</a:t>
            </a:r>
          </a:p>
        </p:txBody>
      </p:sp>
    </p:spTree>
    <p:extLst>
      <p:ext uri="{BB962C8B-B14F-4D97-AF65-F5344CB8AC3E}">
        <p14:creationId xmlns:p14="http://schemas.microsoft.com/office/powerpoint/2010/main" val="158059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0"/>
            <a:ext cx="8676296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Moving Averages Warn Trend Reversal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8516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8583935" cy="402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Moving Average as a Support &amp; Resistance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92799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1022" y="2667000"/>
            <a:ext cx="7810499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Using Moving Average  for Entry/Exit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3527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Length of Moving Average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524000"/>
            <a:ext cx="8610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Length refers to time horizon , popularly called ‘periods ‘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The most popular moving average periods are 10-day, 21-day, 50-day, 100-day, and 200-day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Longer periods give reliable information but they react slow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Faster moving average reacts fast but they tend to give wrong information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It’s best to combine both short and long period moving averages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9157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Using Crossovers of MAs to enter/exit market</a:t>
            </a:r>
            <a:endParaRPr lang="en-US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71800"/>
            <a:ext cx="8951841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3600" b="1" dirty="0"/>
              <a:t>Simple Moving Average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Example : 5 day SMA</a:t>
            </a:r>
          </a:p>
          <a:p>
            <a:r>
              <a:rPr lang="en-US" sz="2400" b="1" dirty="0"/>
              <a:t>Price : 11,12,13,14,15,16,17</a:t>
            </a:r>
          </a:p>
          <a:p>
            <a:r>
              <a:rPr lang="en-US" sz="2400" b="1" dirty="0"/>
              <a:t>5 SMA(Day 1):11+12+13+14+15 = 65/5 = 13</a:t>
            </a:r>
          </a:p>
          <a:p>
            <a:r>
              <a:rPr lang="en-US" sz="2400" b="1" dirty="0"/>
              <a:t>5 SMA(Day 2): 12+13+14+15+16 = 70/5 = 14</a:t>
            </a:r>
          </a:p>
          <a:p>
            <a:r>
              <a:rPr lang="en-US" sz="2400" b="1" dirty="0"/>
              <a:t>5 SMA(Day 3): 13+14+15+16+17 = 75/5 = 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11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Weighted Moving Average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Example : 5 WMA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5+4+3+2+1 = 15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Price : 11,12,13,14,15,16,17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WMA (Day 1) : (11x1)+(12x2)+(13x3)+(14x4)+(15x5)/15 = 13.67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WMA (Day 2) : (12x1)+(13x2)+(14x3)+(15x4)+(16x5)/15 = 14.67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50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Exponential Moving Average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Example: 5 day EMA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Time = 5 days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Price = </a:t>
            </a:r>
            <a:r>
              <a:rPr lang="en-US" sz="2400" b="1" dirty="0" smtClean="0">
                <a:solidFill>
                  <a:prstClr val="black"/>
                </a:solidFill>
              </a:rPr>
              <a:t>13,14,15,16,17,18 </a:t>
            </a:r>
            <a:r>
              <a:rPr lang="en-US" sz="2400" b="1" dirty="0">
                <a:solidFill>
                  <a:prstClr val="black"/>
                </a:solidFill>
              </a:rPr>
              <a:t>= SMA is </a:t>
            </a:r>
            <a:r>
              <a:rPr lang="en-US" sz="2400" b="1" dirty="0" smtClean="0">
                <a:solidFill>
                  <a:prstClr val="black"/>
                </a:solidFill>
              </a:rPr>
              <a:t>15 </a:t>
            </a:r>
            <a:r>
              <a:rPr lang="en-US" sz="2400" b="1" dirty="0">
                <a:solidFill>
                  <a:prstClr val="black"/>
                </a:solidFill>
              </a:rPr>
              <a:t>(for day 1 EMA)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Multiplier = (2/(time+1))=(2/(5+1))=2/6=.3333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EMA = (close – EMA (previous day)) x multiplier + EMA (previous day)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EMA (Day 1)= </a:t>
            </a:r>
            <a:r>
              <a:rPr lang="en-US" sz="2400" b="1" dirty="0" smtClean="0">
                <a:solidFill>
                  <a:prstClr val="black"/>
                </a:solidFill>
              </a:rPr>
              <a:t>15</a:t>
            </a:r>
            <a:endParaRPr lang="en-US" sz="2400" b="1" dirty="0">
              <a:solidFill>
                <a:prstClr val="black"/>
              </a:solidFill>
            </a:endParaRP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EMA (Day 2)= (</a:t>
            </a:r>
            <a:r>
              <a:rPr lang="en-US" sz="2400" b="1" dirty="0" smtClean="0">
                <a:solidFill>
                  <a:prstClr val="black"/>
                </a:solidFill>
              </a:rPr>
              <a:t>18-15)x.3333+15 </a:t>
            </a:r>
            <a:r>
              <a:rPr lang="en-US" sz="2400" b="1" dirty="0">
                <a:solidFill>
                  <a:prstClr val="black"/>
                </a:solidFill>
              </a:rPr>
              <a:t>= </a:t>
            </a:r>
            <a:r>
              <a:rPr lang="en-US" sz="2400" b="1" dirty="0" smtClean="0">
                <a:solidFill>
                  <a:prstClr val="black"/>
                </a:solidFill>
              </a:rPr>
              <a:t>15.99</a:t>
            </a:r>
          </a:p>
          <a:p>
            <a:pPr lvl="0"/>
            <a:endParaRPr lang="en-US" sz="2400" b="1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87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Relative Strength Index </a:t>
            </a:r>
            <a:br>
              <a:rPr lang="en-US" b="1" dirty="0" smtClean="0"/>
            </a:br>
            <a:r>
              <a:rPr lang="en-US" b="1" dirty="0" smtClean="0"/>
              <a:t>(RSI)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3198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Relative Strength Index (RSI)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b="1" dirty="0" smtClean="0"/>
              <a:t>J. Welles Wilder introduced RSI in June 1978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b="1" dirty="0" smtClean="0"/>
              <a:t>RSI measures the strength of the trend using past “Gain” and “Loss” data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b="1" u="sng" dirty="0" smtClean="0"/>
              <a:t>Formula</a:t>
            </a:r>
            <a:r>
              <a:rPr lang="en-US" sz="2800" b="1" dirty="0" smtClean="0"/>
              <a:t>: </a:t>
            </a:r>
          </a:p>
          <a:p>
            <a:pPr marL="342900"/>
            <a:r>
              <a:rPr lang="en-US" sz="2800" b="1" dirty="0" smtClean="0"/>
              <a:t>RSI = 100 - 100/(1 + RS*)</a:t>
            </a:r>
          </a:p>
          <a:p>
            <a:pPr marL="342900"/>
            <a:r>
              <a:rPr lang="en-US" sz="2800" b="1" dirty="0" smtClean="0"/>
              <a:t>*RS = Average Gain/ Average Loss</a:t>
            </a:r>
          </a:p>
          <a:p>
            <a:pPr marL="400050" indent="-342900">
              <a:buFont typeface="Arial" pitchFamily="34" charset="0"/>
              <a:buChar char="•"/>
            </a:pPr>
            <a:r>
              <a:rPr lang="en-US" sz="2800" b="1" dirty="0" smtClean="0"/>
              <a:t>RSI helps you determine overbought and oversold levels </a:t>
            </a:r>
          </a:p>
          <a:p>
            <a:pPr marL="400050" indent="-342900">
              <a:buFont typeface="Arial" pitchFamily="34" charset="0"/>
              <a:buChar char="•"/>
            </a:pPr>
            <a:r>
              <a:rPr lang="en-US" sz="2800" b="1" dirty="0" smtClean="0"/>
              <a:t>RSI can range from a low of 0 to a high of 100</a:t>
            </a:r>
          </a:p>
          <a:p>
            <a:pPr marL="400050" indent="-342900">
              <a:buFont typeface="Arial" pitchFamily="34" charset="0"/>
              <a:buChar char="•"/>
            </a:pPr>
            <a:r>
              <a:rPr lang="en-US" sz="2800" b="1" dirty="0" smtClean="0"/>
              <a:t>A 14-day period RSI is most commonly used</a:t>
            </a:r>
          </a:p>
          <a:p>
            <a:pPr marL="400050" indent="-342900">
              <a:buFont typeface="Arial" pitchFamily="34" charset="0"/>
              <a:buChar char="•"/>
            </a:pPr>
            <a:endParaRPr lang="en-US" sz="2400" b="1" dirty="0" smtClean="0"/>
          </a:p>
          <a:p>
            <a:pPr marL="400050" indent="-342900">
              <a:buFont typeface="Arial" pitchFamily="34" charset="0"/>
              <a:buChar char="•"/>
            </a:pPr>
            <a:endParaRPr lang="en-US" sz="2400" b="1" dirty="0" smtClean="0"/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2642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Why to use RSI?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970544"/>
            <a:ext cx="8839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It helps to determine the market direction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It helps to determine overbought/oversold zones</a:t>
            </a:r>
          </a:p>
          <a:p>
            <a:r>
              <a:rPr lang="en-US" sz="2400" b="1" dirty="0" smtClean="0"/>
              <a:t>        -   Overbought : above 70 level</a:t>
            </a:r>
          </a:p>
          <a:p>
            <a:r>
              <a:rPr lang="en-US" sz="2400" b="1" dirty="0" smtClean="0"/>
              <a:t>        -   Oversold       : below 30 level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It warns you of possible trend reversals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RSI is Oscillator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Other Oscillator measures  center line as zero 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564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Determining Market Directions Using RSI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619071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Market is assumed to be up when the RSI is above 50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Market is assumed to be down when the RSI is below 50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14600"/>
            <a:ext cx="5867400" cy="392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37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810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Determining Overbought and Oversold Zones</a:t>
            </a:r>
            <a:endParaRPr lang="en-US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288337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482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Determining Reversals Using RSI Divergences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447800"/>
            <a:ext cx="9144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b="1" dirty="0" smtClean="0"/>
              <a:t>Divergence occur when RSI and Price moves in different directions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b="1" dirty="0" smtClean="0"/>
              <a:t>There are two types of divergences : 1) Regular 2) Hidden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b="1" dirty="0" smtClean="0"/>
              <a:t>Divergences help you spot the trend reversals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b="1" dirty="0" smtClean="0"/>
              <a:t>Divergences can be used as a potential entry/exit zones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62393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810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Regular Divergence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759803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Bullish regular divergence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Bearish regular divergence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71323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8001000" cy="4407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3810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Bullish Regular Divergence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14478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Price forms lower low, RSI forms higher low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75722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81000"/>
            <a:ext cx="929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Bearish Regular Divergence </a:t>
            </a:r>
            <a:endParaRPr lang="en-US" sz="36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" y="1447800"/>
            <a:ext cx="8459788" cy="4902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8112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Hidden Divergence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981200"/>
            <a:ext cx="685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b="1" dirty="0" smtClean="0"/>
              <a:t>Bullish hidden divergence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b="1" dirty="0" smtClean="0"/>
              <a:t>Bearish hidden divergence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5152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Bullish Hidden Divergence </a:t>
            </a:r>
            <a:endParaRPr lang="en-US" sz="36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4368" y="2000250"/>
            <a:ext cx="6542251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268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0402" y="1752600"/>
            <a:ext cx="6879708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15240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Bearish Hidden Divergence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8801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Divergences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76400"/>
            <a:ext cx="7315200" cy="4419600"/>
          </a:xfrm>
        </p:spPr>
      </p:pic>
    </p:spTree>
    <p:extLst>
      <p:ext uri="{BB962C8B-B14F-4D97-AF65-F5344CB8AC3E}">
        <p14:creationId xmlns:p14="http://schemas.microsoft.com/office/powerpoint/2010/main" val="2371995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914400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 smtClean="0"/>
              <a:t>There are lots of other  Indicators 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2815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9600" b="1" dirty="0" smtClean="0"/>
              <a:t>Thank You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70781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579</Words>
  <Application>Microsoft Office PowerPoint</Application>
  <PresentationFormat>On-screen Show (4:3)</PresentationFormat>
  <Paragraphs>91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Simple Moving Average</vt:lpstr>
      <vt:lpstr>Weighted Moving Average</vt:lpstr>
      <vt:lpstr>Exponential Moving Average</vt:lpstr>
      <vt:lpstr>Relative Strength Index  (RSI)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Divergences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13</cp:revision>
  <cp:lastPrinted>2023-02-23T15:01:57Z</cp:lastPrinted>
  <dcterms:created xsi:type="dcterms:W3CDTF">2006-08-16T00:00:00Z</dcterms:created>
  <dcterms:modified xsi:type="dcterms:W3CDTF">2023-12-01T07:53:32Z</dcterms:modified>
</cp:coreProperties>
</file>