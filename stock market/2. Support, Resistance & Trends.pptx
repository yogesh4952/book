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295400"/>
            <a:ext cx="9144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 smtClean="0"/>
              <a:t>Support </a:t>
            </a:r>
          </a:p>
          <a:p>
            <a:pPr algn="ctr"/>
            <a:r>
              <a:rPr lang="en-US" sz="8800" b="1" dirty="0" smtClean="0"/>
              <a:t>And</a:t>
            </a:r>
          </a:p>
          <a:p>
            <a:pPr algn="ctr"/>
            <a:r>
              <a:rPr lang="en-US" sz="8800" b="1" dirty="0" smtClean="0"/>
              <a:t> Resistance </a:t>
            </a:r>
            <a:endParaRPr 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419369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" y="96167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Support and Resistance 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0630" y="1219779"/>
            <a:ext cx="5373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What is ‘support and resistance’?</a:t>
            </a:r>
            <a:endParaRPr 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8100" y="2133600"/>
            <a:ext cx="91059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When price rises and corrects, the peak formed is a resistance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When price declines and throws back, the trough formed is a support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Many trading strategies are based on support and resistance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Support and resistance form because of the psychology of the traders/investors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Demand is higher at the support zones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Supply is higher at the resistance zones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 smtClean="0"/>
              <a:t>S&amp;R are useful to set </a:t>
            </a:r>
            <a:r>
              <a:rPr lang="en-US" sz="2000" b="1" dirty="0"/>
              <a:t> </a:t>
            </a:r>
            <a:r>
              <a:rPr lang="en-US" sz="2000" b="1" dirty="0" smtClean="0"/>
              <a:t>take positions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688145"/>
            <a:ext cx="6705600" cy="194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625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48000" endA="300" endPos="55000" dir="5400000" sy="-90000" algn="bl" rotWithShape="0"/>
                </a:effectLst>
              </a:rPr>
              <a:t>Support and Resistance 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48000" endA="300" endPos="55000" dir="5400000" sy="-90000" algn="bl" rotWithShape="0"/>
                </a:effectLst>
              </a:rPr>
            </a:b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12700" stA="48000" endA="300" endPos="55000" dir="5400000" sy="-90000" algn="bl" rotWithShape="0"/>
              </a:effectLst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524000"/>
            <a:ext cx="7239000" cy="4876800"/>
          </a:xfrm>
        </p:spPr>
      </p:pic>
    </p:spTree>
    <p:extLst>
      <p:ext uri="{BB962C8B-B14F-4D97-AF65-F5344CB8AC3E}">
        <p14:creationId xmlns:p14="http://schemas.microsoft.com/office/powerpoint/2010/main" val="324454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smtClean="0"/>
              <a:t>Support  and Resistance</a:t>
            </a:r>
            <a:endParaRPr lang="en-US" sz="3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447800"/>
            <a:ext cx="6629400" cy="5181600"/>
          </a:xfrm>
        </p:spPr>
      </p:pic>
    </p:spTree>
    <p:extLst>
      <p:ext uri="{BB962C8B-B14F-4D97-AF65-F5344CB8AC3E}">
        <p14:creationId xmlns:p14="http://schemas.microsoft.com/office/powerpoint/2010/main" val="2932944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240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/>
              <a:t>Why Support and Resistance are Important</a:t>
            </a:r>
            <a:endParaRPr lang="en-US" sz="32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381000" y="1447800"/>
            <a:ext cx="87630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Price tend to stop/pause/stall or even reverse around previous S&amp;R levels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Could be potential buy/sell region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It is the indication of shift in demand and supply pressure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The more time S&amp;R are tested and unable to break, the more reliable it becomes 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636189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2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Importance of Round Figures 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90500" y="1526232"/>
            <a:ext cx="876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Human beings tend to think in terms of round figures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Round figures tend to work as a psychological barrier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Many traders/investors wish to entry/exit at these levels</a:t>
            </a:r>
            <a:endParaRPr lang="en-US" sz="24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08" y="2726561"/>
            <a:ext cx="8735291" cy="3845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5705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1371600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 smtClean="0"/>
              <a:t>The Basics of </a:t>
            </a:r>
          </a:p>
          <a:p>
            <a:pPr algn="ctr"/>
            <a:r>
              <a:rPr lang="en-US" sz="8000" b="1" dirty="0" smtClean="0"/>
              <a:t>Trend 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4255916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What is a Trend? 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52400" y="1447800"/>
            <a:ext cx="8991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General direction of the market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Trend is the key to profits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There would be no TA if trend didn’t exist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First step for market analysis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Trend is your friend</a:t>
            </a:r>
          </a:p>
          <a:p>
            <a:pPr marL="234950"/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337067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2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Lengths of Trends 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1519535"/>
            <a:ext cx="670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R"/>
            </a:pPr>
            <a:r>
              <a:rPr lang="en-US" sz="2400" b="1" dirty="0" smtClean="0"/>
              <a:t>Primary trend, Major trend</a:t>
            </a:r>
          </a:p>
          <a:p>
            <a:pPr marL="457200" indent="-457200">
              <a:buAutoNum type="arabicParenR"/>
            </a:pPr>
            <a:r>
              <a:rPr lang="en-US" sz="2400" b="1" dirty="0" smtClean="0"/>
              <a:t>Secondary or intermediate trend </a:t>
            </a:r>
          </a:p>
          <a:p>
            <a:pPr marL="457200" indent="-457200">
              <a:buAutoNum type="arabicParenR"/>
            </a:pPr>
            <a:r>
              <a:rPr lang="en-US" sz="2400" b="1" dirty="0" smtClean="0"/>
              <a:t>Short term trend, Minor trend, Near trend</a:t>
            </a:r>
          </a:p>
        </p:txBody>
      </p:sp>
    </p:spTree>
    <p:extLst>
      <p:ext uri="{BB962C8B-B14F-4D97-AF65-F5344CB8AC3E}">
        <p14:creationId xmlns:p14="http://schemas.microsoft.com/office/powerpoint/2010/main" val="960824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2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Primary Trend 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6200" y="2052935"/>
            <a:ext cx="624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Lasts for  many months to several years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6223" y="3124200"/>
            <a:ext cx="8051554" cy="367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895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2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Secondary Trend </a:t>
            </a:r>
            <a:endParaRPr lang="en-US" sz="36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" y="2895600"/>
            <a:ext cx="8001000" cy="382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2400" y="1531203"/>
            <a:ext cx="48544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Lasts for several months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Measured in months 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6455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" y="2209800"/>
            <a:ext cx="80772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2286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Short term trend 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52400" y="1143000"/>
            <a:ext cx="77723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Lasts for not longer  2 to 3 weeks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 smtClean="0"/>
              <a:t>Measured in days/weeks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35070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2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prstClr val="black"/>
                </a:solidFill>
              </a:rPr>
              <a:t>HH, HL, LH, and LL </a:t>
            </a:r>
            <a:endParaRPr lang="en-US" sz="3600" b="1" dirty="0">
              <a:solidFill>
                <a:prstClr val="black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1447800"/>
            <a:ext cx="6324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prstClr val="black"/>
                </a:solidFill>
              </a:rPr>
              <a:t>HH= Higher high </a:t>
            </a:r>
          </a:p>
          <a:p>
            <a:r>
              <a:rPr lang="en-US" sz="2400" b="1" dirty="0" smtClean="0">
                <a:solidFill>
                  <a:prstClr val="black"/>
                </a:solidFill>
              </a:rPr>
              <a:t>HL= Higher low </a:t>
            </a:r>
          </a:p>
          <a:p>
            <a:r>
              <a:rPr lang="en-US" sz="2400" b="1" dirty="0" smtClean="0">
                <a:solidFill>
                  <a:prstClr val="black"/>
                </a:solidFill>
              </a:rPr>
              <a:t>LH= Lower high </a:t>
            </a:r>
          </a:p>
          <a:p>
            <a:r>
              <a:rPr lang="en-US" sz="2400" b="1" dirty="0" smtClean="0">
                <a:solidFill>
                  <a:prstClr val="black"/>
                </a:solidFill>
              </a:rPr>
              <a:t>LL= Lower low </a:t>
            </a:r>
            <a:endParaRPr lang="en-US" sz="2400" b="1" dirty="0">
              <a:solidFill>
                <a:prstClr val="black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048000"/>
            <a:ext cx="3771900" cy="378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3048000"/>
            <a:ext cx="3771900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035300" y="1752600"/>
            <a:ext cx="586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prstClr val="black"/>
                </a:solidFill>
              </a:rPr>
              <a:t>Uptrend= Higher highs and higher lows formations</a:t>
            </a:r>
          </a:p>
          <a:p>
            <a:r>
              <a:rPr lang="en-US" sz="2000" b="1" dirty="0" smtClean="0">
                <a:solidFill>
                  <a:prstClr val="black"/>
                </a:solidFill>
              </a:rPr>
              <a:t>Downtrend= Lower highs and lower lows </a:t>
            </a:r>
            <a:endParaRPr lang="en-US" sz="2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44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7" y="2514600"/>
            <a:ext cx="8745537" cy="407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0" y="152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prstClr val="black"/>
                </a:solidFill>
              </a:rPr>
              <a:t>HH, HL, LH, and LL </a:t>
            </a:r>
            <a:r>
              <a:rPr lang="en-US" sz="3600" b="1" dirty="0">
                <a:solidFill>
                  <a:prstClr val="black"/>
                </a:solidFill>
              </a:rPr>
              <a:t>i</a:t>
            </a:r>
            <a:r>
              <a:rPr lang="en-US" sz="3600" b="1" dirty="0" smtClean="0">
                <a:solidFill>
                  <a:prstClr val="black"/>
                </a:solidFill>
              </a:rPr>
              <a:t>llustrated</a:t>
            </a:r>
            <a:endParaRPr lang="en-US" sz="36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1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2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Types of Market Trends 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2584102"/>
            <a:ext cx="7696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800" b="1" dirty="0" smtClean="0"/>
              <a:t>Uptrend Market </a:t>
            </a:r>
          </a:p>
          <a:p>
            <a:pPr marL="342900" indent="-342900">
              <a:buAutoNum type="arabicParenR"/>
            </a:pPr>
            <a:r>
              <a:rPr lang="en-US" sz="2800" b="1" dirty="0" smtClean="0"/>
              <a:t>Downtrend Market </a:t>
            </a:r>
          </a:p>
          <a:p>
            <a:pPr marL="342900" indent="-342900">
              <a:buAutoNum type="arabicParenR"/>
            </a:pPr>
            <a:r>
              <a:rPr lang="en-US" sz="2800" b="1" dirty="0" smtClean="0"/>
              <a:t>Sideways Market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72212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048000"/>
            <a:ext cx="8440737" cy="360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19186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Uptrend Market 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52400" y="1591270"/>
            <a:ext cx="762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Rising Market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Formation of higher highs and higher lows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Indicates increasing demand for the stock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25020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9186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Downtrend Market </a:t>
            </a:r>
            <a:endParaRPr lang="en-US" sz="3600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2895600"/>
            <a:ext cx="8736013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28587" y="1515070"/>
            <a:ext cx="88106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Falling Market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Formation of lower highs and lower lows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Indicates increasing supply for the stock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6525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52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Sideways Market </a:t>
            </a:r>
            <a:endParaRPr lang="en-US" sz="3600" b="1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43200"/>
            <a:ext cx="87630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28587" y="1371600"/>
            <a:ext cx="86344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No any particular direction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Certain support and resistance levels are tested repeatedly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Price fluctuates within a certain price range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53516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62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 smtClean="0"/>
              <a:t>Trendline</a:t>
            </a:r>
            <a:r>
              <a:rPr lang="en-US" sz="3600" b="1" dirty="0" smtClean="0"/>
              <a:t> </a:t>
            </a: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1219200"/>
            <a:ext cx="8763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It is a straight line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err="1" smtClean="0"/>
              <a:t>Trendline</a:t>
            </a:r>
            <a:r>
              <a:rPr lang="en-US" sz="2400" b="1" dirty="0" smtClean="0"/>
              <a:t> are drawn by joining two support or two resistance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In an uptrend market, </a:t>
            </a:r>
            <a:r>
              <a:rPr lang="en-US" sz="2400" b="1" dirty="0" err="1" smtClean="0"/>
              <a:t>trendline</a:t>
            </a:r>
            <a:r>
              <a:rPr lang="en-US" sz="2400" b="1" dirty="0" smtClean="0"/>
              <a:t> is drawn by joining two or more support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/>
              <a:t>In a downtrend market, </a:t>
            </a:r>
            <a:r>
              <a:rPr lang="en-US" sz="2400" b="1" dirty="0" err="1" smtClean="0"/>
              <a:t>trendline</a:t>
            </a:r>
            <a:r>
              <a:rPr lang="en-US" sz="2400" b="1" dirty="0" smtClean="0"/>
              <a:t> is drawn by joining two or more resistance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err="1" smtClean="0"/>
              <a:t>Trendline</a:t>
            </a:r>
            <a:r>
              <a:rPr lang="en-US" sz="2400" b="1" dirty="0" smtClean="0"/>
              <a:t> is drawn to determine the potential reversal regions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96856"/>
            <a:ext cx="7924800" cy="2884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690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4800" y="1524000"/>
            <a:ext cx="8745537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Using </a:t>
            </a:r>
            <a:r>
              <a:rPr lang="en-US" sz="3600" b="1" dirty="0" err="1" smtClean="0"/>
              <a:t>Trendline</a:t>
            </a:r>
            <a:r>
              <a:rPr lang="en-US" sz="3600" b="1" dirty="0" smtClean="0"/>
              <a:t> in uptrend market 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92951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Using </a:t>
            </a:r>
            <a:r>
              <a:rPr lang="en-US" sz="3600" b="1" dirty="0" err="1" smtClean="0"/>
              <a:t>Trendline</a:t>
            </a:r>
            <a:r>
              <a:rPr lang="en-US" sz="3600" b="1" dirty="0" smtClean="0"/>
              <a:t> in downtrend market </a:t>
            </a:r>
            <a:endParaRPr lang="en-US" sz="3600" b="1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5491" y="1752600"/>
            <a:ext cx="8736013" cy="483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7481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Breakout </a:t>
            </a:r>
            <a:endParaRPr lang="en-US" sz="3600" b="1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09" y="1371600"/>
            <a:ext cx="8116887" cy="471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841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>
              <a:spcBef>
                <a:spcPts val="0"/>
              </a:spcBef>
            </a:pPr>
            <a:r>
              <a:rPr lang="en-US" b="1" cap="none" dirty="0">
                <a:solidFill>
                  <a:prstClr val="black"/>
                </a:solidFill>
                <a:effectLst/>
                <a:latin typeface="Calibri"/>
                <a:ea typeface="+mn-ea"/>
                <a:cs typeface="+mn-cs"/>
              </a:rPr>
              <a:t>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ClrTx/>
              <a:buFont typeface="Wingdings" pitchFamily="2" charset="2"/>
              <a:buChar char="§"/>
            </a:pPr>
            <a:r>
              <a:rPr lang="en-US" b="1" dirty="0" smtClean="0">
                <a:solidFill>
                  <a:schemeClr val="tx1"/>
                </a:solidFill>
              </a:rPr>
              <a:t>Channels </a:t>
            </a:r>
            <a:r>
              <a:rPr lang="en-US" b="1" dirty="0">
                <a:solidFill>
                  <a:schemeClr val="tx1"/>
                </a:solidFill>
              </a:rPr>
              <a:t>are mostly used in trending markets </a:t>
            </a:r>
          </a:p>
          <a:p>
            <a:pPr>
              <a:buClrTx/>
              <a:buFont typeface="Wingdings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Price tend to fluctuate within the range of the channel </a:t>
            </a:r>
          </a:p>
          <a:p>
            <a:pPr>
              <a:buClrTx/>
              <a:buFont typeface="Wingdings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Breakout of the channel could mean that the trend will continue/reverse</a:t>
            </a:r>
          </a:p>
          <a:p>
            <a:pPr>
              <a:buClrTx/>
              <a:buFont typeface="Wingdings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Channels signal possible entry/exit zones </a:t>
            </a:r>
          </a:p>
          <a:p>
            <a:pPr>
              <a:buClrTx/>
              <a:buFont typeface="Wingdings" pitchFamily="2" charset="2"/>
              <a:buChar char="§"/>
            </a:pPr>
            <a:r>
              <a:rPr lang="en-US" b="1" dirty="0" smtClean="0">
                <a:solidFill>
                  <a:schemeClr val="tx1"/>
                </a:solidFill>
              </a:rPr>
              <a:t>Channels are two parallel trendline </a:t>
            </a:r>
          </a:p>
          <a:p>
            <a:pPr>
              <a:buClrTx/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95800" y="2362201"/>
            <a:ext cx="4492752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328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473</Words>
  <Application>Microsoft Office PowerPoint</Application>
  <PresentationFormat>On-screen Show (4:3)</PresentationFormat>
  <Paragraphs>82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Support and Resistance  </vt:lpstr>
      <vt:lpstr>Support  and Resistance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Channels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12</cp:revision>
  <dcterms:created xsi:type="dcterms:W3CDTF">2006-08-16T00:00:00Z</dcterms:created>
  <dcterms:modified xsi:type="dcterms:W3CDTF">2023-12-01T07:08:27Z</dcterms:modified>
</cp:coreProperties>
</file>